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816852"/>
            <a:ext cx="12191695" cy="41148"/>
          </a:xfrm>
          <a:prstGeom prst="rect">
            <a:avLst/>
          </a:prstGeom>
          <a:solidFill>
            <a:srgbClr val="E0EB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685800"/>
            <a:ext cx="7772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F2B46"/>
                </a:solidFill>
                <a:latin typeface="Aptos"/>
              </a:defRPr>
            </a:pPr>
            <a:r>
              <a:t>Azure Bastion Deployment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444752"/>
            <a:ext cx="76809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0078D4"/>
                </a:solidFill>
                <a:latin typeface="Aptos"/>
              </a:defRPr>
            </a:pPr>
            <a:r>
              <a:t>Removing Public RDP Access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49808" y="2331720"/>
            <a:ext cx="60350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5C6C7A"/>
                </a:solidFill>
                <a:latin typeface="Aptos"/>
              </a:defRPr>
            </a:pPr>
            <a:r>
              <a:t>Secure Remote Administration of Windows Virtual Machines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3063240"/>
            <a:ext cx="5303520" cy="1417320"/>
          </a:xfrm>
          <a:prstGeom prst="roundRect">
            <a:avLst/>
          </a:prstGeom>
          <a:solidFill>
            <a:srgbClr val="F4F8FC"/>
          </a:solidFill>
          <a:ln w="12700">
            <a:solidFill>
              <a:srgbClr val="D2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896112" y="3246120"/>
            <a:ext cx="475488" cy="475488"/>
          </a:xfrm>
          <a:prstGeom prst="ellipse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96112" y="3310128"/>
            <a:ext cx="475488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Aptos"/>
              </a:defRPr>
            </a:pPr>
            <a:r>
              <a:t>◆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81328" y="3227832"/>
            <a:ext cx="4407408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50" b="1">
                <a:solidFill>
                  <a:srgbClr val="0F2B46"/>
                </a:solidFill>
                <a:latin typeface="Aptos"/>
              </a:defRPr>
            </a:pPr>
            <a:r>
              <a:t>PROJECT DETAILS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81328" y="3685032"/>
            <a:ext cx="4407408" cy="6675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50" b="0">
                <a:solidFill>
                  <a:srgbClr val="23313D"/>
                </a:solidFill>
                <a:latin typeface="Aptos"/>
              </a:defRPr>
            </a:pPr>
            <a:r>
              <a:t>Project ID: 24CC3046-P014</a:t>
            </a:r>
            <a:br/>
            <a:r>
              <a:t>Domain: Cloud Security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49808" y="4754880"/>
            <a:ext cx="5212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F2B46"/>
                </a:solidFill>
                <a:latin typeface="Aptos"/>
              </a:defRPr>
            </a:pPr>
            <a:r>
              <a:t>TEAM MEMBERS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49808" y="5102352"/>
            <a:ext cx="667512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50" b="0">
                <a:solidFill>
                  <a:srgbClr val="23313D"/>
                </a:solidFill>
                <a:latin typeface="Aptos"/>
              </a:defRPr>
            </a:pPr>
            <a:r>
              <a:t>2400032774 – ALLA VENKATA SAI NIKHIL</a:t>
            </a:r>
            <a:br/>
            <a:r>
              <a:t>2400032788 – GANTA RISHITHA CHOWDARY</a:t>
            </a:r>
            <a:br/>
            <a:r>
              <a:t>2400032799 – YAKKALI SREEVALLI</a:t>
            </a:r>
            <a:br/>
            <a:r>
              <a:t>2400032801 – NITIN KUMAR</a:t>
            </a:r>
          </a:p>
        </p:txBody>
      </p:sp>
      <p:sp>
        <p:nvSpPr>
          <p:cNvPr id="14" name="Cloud 13"/>
          <p:cNvSpPr/>
          <p:nvPr/>
        </p:nvSpPr>
        <p:spPr>
          <a:xfrm>
            <a:off x="8138160" y="1051560"/>
            <a:ext cx="3154680" cy="2148840"/>
          </a:xfrm>
          <a:prstGeom prst="cloud">
            <a:avLst/>
          </a:prstGeom>
          <a:solidFill>
            <a:srgbClr val="E7F3FC"/>
          </a:solidFill>
          <a:ln w="25400">
            <a:solidFill>
              <a:srgbClr val="0078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Pentagon 14"/>
          <p:cNvSpPr/>
          <p:nvPr/>
        </p:nvSpPr>
        <p:spPr>
          <a:xfrm rot="10800000">
            <a:off x="9235440" y="1554480"/>
            <a:ext cx="868680" cy="938174"/>
          </a:xfrm>
          <a:prstGeom prst="homePlate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235440" y="1806397"/>
            <a:ext cx="868680" cy="2606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FFFFFF"/>
                </a:solidFill>
                <a:latin typeface="Aptos"/>
              </a:defRPr>
            </a:pPr>
            <a:r>
              <a:t>✓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12480" y="352044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0078D4"/>
                </a:solidFill>
                <a:latin typeface="Aptos"/>
              </a:defRPr>
            </a:pPr>
            <a:r>
              <a:t>PRIVATE ACCESS • SECURE GATEWAY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292840" y="6519672"/>
            <a:ext cx="50292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5C6C7A"/>
                </a:solidFill>
                <a:latin typeface="Aptos"/>
              </a:defRPr>
            </a:pPr>
            <a:r>
              <a:t>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816852"/>
            <a:ext cx="12191695" cy="41148"/>
          </a:xfrm>
          <a:prstGeom prst="rect">
            <a:avLst/>
          </a:prstGeom>
          <a:solidFill>
            <a:srgbClr val="E0EB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347472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0F2B46"/>
                </a:solidFill>
                <a:latin typeface="Aptos Display"/>
              </a:defRPr>
            </a:pPr>
            <a:r>
              <a:t>Why Azure Bastion?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630936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600">
                <a:solidFill>
                  <a:srgbClr val="23313D"/>
                </a:solidFill>
                <a:latin typeface="Aptos"/>
              </a:defRPr>
            </a:pPr>
            <a:r>
              <a:t>• Azure Bastion is a managed Azure service for remote administration of Azure Virtual Machines.</a:t>
            </a:r>
          </a:p>
          <a:p>
            <a:pPr>
              <a:spcAft>
                <a:spcPts val="1200"/>
              </a:spcAft>
              <a:defRPr sz="1600">
                <a:solidFill>
                  <a:srgbClr val="23313D"/>
                </a:solidFill>
                <a:latin typeface="Aptos"/>
              </a:defRPr>
            </a:pPr>
            <a:r>
              <a:t>• It supports browser-based RDP and SSH sessions through the Azure Portal.</a:t>
            </a:r>
          </a:p>
          <a:p>
            <a:pPr>
              <a:spcAft>
                <a:spcPts val="1200"/>
              </a:spcAft>
              <a:defRPr sz="1600">
                <a:solidFill>
                  <a:srgbClr val="23313D"/>
                </a:solidFill>
                <a:latin typeface="Aptos"/>
              </a:defRPr>
            </a:pPr>
            <a:r>
              <a:t>• The VM can remain on a private IP address for this access path.</a:t>
            </a:r>
          </a:p>
          <a:p>
            <a:pPr>
              <a:spcAft>
                <a:spcPts val="1200"/>
              </a:spcAft>
              <a:defRPr sz="1600">
                <a:solidFill>
                  <a:srgbClr val="23313D"/>
                </a:solidFill>
                <a:latin typeface="Aptos"/>
              </a:defRPr>
            </a:pPr>
            <a:r>
              <a:t>• It avoids the need to expose public RDP/SSH ports directly to the Internet.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406640" y="1508760"/>
            <a:ext cx="1828800" cy="6858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078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0F2B46"/>
                </a:solidFill>
                <a:latin typeface="Aptos"/>
              </a:defRPr>
            </a:pPr>
            <a:r>
              <a:t>Administrator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8321040" y="2212848"/>
            <a:ext cx="0" cy="393192"/>
          </a:xfrm>
          <a:prstGeom prst="line">
            <a:avLst/>
          </a:prstGeom>
          <a:ln w="31750">
            <a:solidFill>
              <a:srgbClr val="0078D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ounded Rectangle 7"/>
          <p:cNvSpPr/>
          <p:nvPr/>
        </p:nvSpPr>
        <p:spPr>
          <a:xfrm>
            <a:off x="7223760" y="2651760"/>
            <a:ext cx="2194560" cy="685800"/>
          </a:xfrm>
          <a:prstGeom prst="roundRect">
            <a:avLst/>
          </a:prstGeom>
          <a:solidFill>
            <a:srgbClr val="E7F3FC"/>
          </a:solidFill>
          <a:ln w="19050">
            <a:solidFill>
              <a:srgbClr val="0078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0F2B46"/>
                </a:solidFill>
                <a:latin typeface="Aptos"/>
              </a:defRPr>
            </a:pPr>
            <a:r>
              <a:t>Azure Portal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8321040" y="3337560"/>
            <a:ext cx="0" cy="393192"/>
          </a:xfrm>
          <a:prstGeom prst="line">
            <a:avLst/>
          </a:prstGeom>
          <a:ln w="31750">
            <a:solidFill>
              <a:srgbClr val="0078D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7040880" y="3767328"/>
            <a:ext cx="2560320" cy="749808"/>
          </a:xfrm>
          <a:prstGeom prst="roundRect">
            <a:avLst/>
          </a:prstGeom>
          <a:solidFill>
            <a:srgbClr val="E8F7EF"/>
          </a:solidFill>
          <a:ln w="19050">
            <a:solidFill>
              <a:srgbClr val="2387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0F2B46"/>
                </a:solidFill>
                <a:latin typeface="Aptos"/>
              </a:defRPr>
            </a:pPr>
            <a:r>
              <a:t>Azure Bastion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8321040" y="4517136"/>
            <a:ext cx="0" cy="393192"/>
          </a:xfrm>
          <a:prstGeom prst="line">
            <a:avLst/>
          </a:prstGeom>
          <a:ln w="31750">
            <a:solidFill>
              <a:srgbClr val="23875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7086600" y="4937760"/>
            <a:ext cx="2468880" cy="749808"/>
          </a:xfrm>
          <a:prstGeom prst="roundRect">
            <a:avLst/>
          </a:prstGeom>
          <a:solidFill>
            <a:srgbClr val="F4F8FC"/>
          </a:solidFill>
          <a:ln w="19050">
            <a:solidFill>
              <a:srgbClr val="0078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0F2B46"/>
                </a:solidFill>
                <a:latin typeface="Aptos"/>
              </a:defRPr>
            </a:pPr>
            <a:r>
              <a:t>Private VM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784080" y="2880360"/>
            <a:ext cx="1463040" cy="310896"/>
          </a:xfrm>
          <a:prstGeom prst="roundRect">
            <a:avLst/>
          </a:prstGeom>
          <a:solidFill>
            <a:srgbClr val="E8F7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50" b="1">
                <a:solidFill>
                  <a:srgbClr val="238753"/>
                </a:solidFill>
                <a:latin typeface="Aptos"/>
              </a:defRPr>
            </a:pPr>
            <a:r>
              <a:t>Secure path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292840" y="6519672"/>
            <a:ext cx="50292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5C6C7A"/>
                </a:solidFill>
                <a:latin typeface="Aptos"/>
              </a:defRPr>
            </a:pPr>
            <a: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816852"/>
            <a:ext cx="12191695" cy="41148"/>
          </a:xfrm>
          <a:prstGeom prst="rect">
            <a:avLst/>
          </a:prstGeom>
          <a:solidFill>
            <a:srgbClr val="E0EB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347472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0F2B46"/>
                </a:solidFill>
                <a:latin typeface="Aptos Display"/>
              </a:defRPr>
            </a:pPr>
            <a:r>
              <a:t>Problem Statement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12648" y="914400"/>
            <a:ext cx="10789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50">
                <a:solidFill>
                  <a:srgbClr val="5C6C7A"/>
                </a:solidFill>
                <a:latin typeface="Aptos"/>
              </a:defRPr>
            </a:pPr>
            <a:r>
              <a:t>Risks of Public RDP/SSH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371600"/>
            <a:ext cx="3337560" cy="1234440"/>
          </a:xfrm>
          <a:prstGeom prst="roundRect">
            <a:avLst/>
          </a:prstGeom>
          <a:solidFill>
            <a:srgbClr val="FCECEC"/>
          </a:solidFill>
          <a:ln w="12700">
            <a:solidFill>
              <a:srgbClr val="D2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850392" y="1554480"/>
            <a:ext cx="475488" cy="475488"/>
          </a:xfrm>
          <a:prstGeom prst="ellipse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50392" y="1618488"/>
            <a:ext cx="475488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Aptos"/>
              </a:defRPr>
            </a:pPr>
            <a:r>
              <a:t>!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435607" y="1536192"/>
            <a:ext cx="2441448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50" b="1">
                <a:solidFill>
                  <a:srgbClr val="0F2B46"/>
                </a:solidFill>
                <a:latin typeface="Aptos"/>
              </a:defRPr>
            </a:pPr>
            <a:r>
              <a:t>INTERNET EXPOSURE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35607" y="1993392"/>
            <a:ext cx="2441448" cy="484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50" b="0">
                <a:solidFill>
                  <a:srgbClr val="23313D"/>
                </a:solidFill>
                <a:latin typeface="Aptos"/>
              </a:defRPr>
            </a:pPr>
            <a:r>
              <a:t>Public IPs and open ports can be discovered by automated Internet scanning.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85800" y="2788920"/>
            <a:ext cx="3337560" cy="1234440"/>
          </a:xfrm>
          <a:prstGeom prst="roundRect">
            <a:avLst/>
          </a:prstGeom>
          <a:solidFill>
            <a:srgbClr val="FCECEC"/>
          </a:solidFill>
          <a:ln w="12700">
            <a:solidFill>
              <a:srgbClr val="D2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850392" y="2971800"/>
            <a:ext cx="475488" cy="475488"/>
          </a:xfrm>
          <a:prstGeom prst="ellipse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50392" y="3035808"/>
            <a:ext cx="475488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Aptos"/>
              </a:defRPr>
            </a:pPr>
            <a:r>
              <a:t>!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35607" y="2953512"/>
            <a:ext cx="2441448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50" b="1">
                <a:solidFill>
                  <a:srgbClr val="0F2B46"/>
                </a:solidFill>
                <a:latin typeface="Aptos"/>
              </a:defRPr>
            </a:pPr>
            <a:r>
              <a:t>LARGER ATTACK SURFACE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35607" y="3410712"/>
            <a:ext cx="2441448" cy="484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50" b="0">
                <a:solidFill>
                  <a:srgbClr val="23313D"/>
                </a:solidFill>
                <a:latin typeface="Aptos"/>
              </a:defRPr>
            </a:pPr>
            <a:r>
              <a:t>RDP 3389 and SSH 22 become directly reachable from external networks.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85800" y="4206240"/>
            <a:ext cx="3337560" cy="1234440"/>
          </a:xfrm>
          <a:prstGeom prst="roundRect">
            <a:avLst/>
          </a:prstGeom>
          <a:solidFill>
            <a:srgbClr val="FCECEC"/>
          </a:solidFill>
          <a:ln w="12700">
            <a:solidFill>
              <a:srgbClr val="D2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850392" y="4389120"/>
            <a:ext cx="475488" cy="475488"/>
          </a:xfrm>
          <a:prstGeom prst="ellipse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50392" y="4453127"/>
            <a:ext cx="475488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Aptos"/>
              </a:defRPr>
            </a:pPr>
            <a:r>
              <a:t>!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435607" y="4370831"/>
            <a:ext cx="2441448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50" b="1">
                <a:solidFill>
                  <a:srgbClr val="0F2B46"/>
                </a:solidFill>
                <a:latin typeface="Aptos"/>
              </a:defRPr>
            </a:pPr>
            <a:r>
              <a:t>CREDENTIAL ATTACKS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35607" y="4828031"/>
            <a:ext cx="2441448" cy="484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50" b="0">
                <a:solidFill>
                  <a:srgbClr val="23313D"/>
                </a:solidFill>
                <a:latin typeface="Aptos"/>
              </a:defRPr>
            </a:pPr>
            <a:r>
              <a:t>Exposed services can receive brute-force or credential-stuffing attempts.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617720" y="1325880"/>
            <a:ext cx="6675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C43737"/>
                </a:solidFill>
                <a:latin typeface="Aptos"/>
              </a:defRPr>
            </a:pPr>
            <a:r>
              <a:t>PUBLIC RDP EXPOSURE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800600" y="1965960"/>
            <a:ext cx="1600200" cy="749808"/>
          </a:xfrm>
          <a:prstGeom prst="roundRect">
            <a:avLst/>
          </a:prstGeom>
          <a:solidFill>
            <a:srgbClr val="FCECEC"/>
          </a:solidFill>
          <a:ln w="19050">
            <a:solidFill>
              <a:srgbClr val="C437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C43737"/>
                </a:solidFill>
                <a:latin typeface="Aptos"/>
              </a:defRPr>
            </a:pPr>
            <a:r>
              <a:t>Internet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6400800" y="2340864"/>
            <a:ext cx="594360" cy="0"/>
          </a:xfrm>
          <a:prstGeom prst="line">
            <a:avLst/>
          </a:prstGeom>
          <a:ln w="31750">
            <a:solidFill>
              <a:srgbClr val="C4373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ounded Rectangle 23"/>
          <p:cNvSpPr/>
          <p:nvPr/>
        </p:nvSpPr>
        <p:spPr>
          <a:xfrm>
            <a:off x="6995160" y="1965960"/>
            <a:ext cx="1600200" cy="749808"/>
          </a:xfrm>
          <a:prstGeom prst="roundRect">
            <a:avLst/>
          </a:prstGeom>
          <a:solidFill>
            <a:srgbClr val="FCECEC"/>
          </a:solidFill>
          <a:ln w="19050">
            <a:solidFill>
              <a:srgbClr val="C437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C43737"/>
                </a:solidFill>
                <a:latin typeface="Aptos"/>
              </a:defRPr>
            </a:pPr>
            <a:r>
              <a:t>Public IP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8595360" y="2340864"/>
            <a:ext cx="594360" cy="0"/>
          </a:xfrm>
          <a:prstGeom prst="line">
            <a:avLst/>
          </a:prstGeom>
          <a:ln w="31750">
            <a:solidFill>
              <a:srgbClr val="C4373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Rounded Rectangle 25"/>
          <p:cNvSpPr/>
          <p:nvPr/>
        </p:nvSpPr>
        <p:spPr>
          <a:xfrm>
            <a:off x="9189720" y="1965960"/>
            <a:ext cx="1737360" cy="749808"/>
          </a:xfrm>
          <a:prstGeom prst="roundRect">
            <a:avLst/>
          </a:prstGeom>
          <a:solidFill>
            <a:srgbClr val="FCECEC"/>
          </a:solidFill>
          <a:ln w="19050">
            <a:solidFill>
              <a:srgbClr val="C437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C43737"/>
                </a:solidFill>
                <a:latin typeface="Aptos"/>
              </a:defRPr>
            </a:pPr>
            <a:r>
              <a:t>RDP : 3389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10058400" y="2724912"/>
            <a:ext cx="0" cy="521208"/>
          </a:xfrm>
          <a:prstGeom prst="line">
            <a:avLst/>
          </a:prstGeom>
          <a:ln w="31750">
            <a:solidFill>
              <a:srgbClr val="C4373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Rounded Rectangle 27"/>
          <p:cNvSpPr/>
          <p:nvPr/>
        </p:nvSpPr>
        <p:spPr>
          <a:xfrm>
            <a:off x="9052560" y="3273552"/>
            <a:ext cx="2011680" cy="822960"/>
          </a:xfrm>
          <a:prstGeom prst="roundRect">
            <a:avLst/>
          </a:prstGeom>
          <a:solidFill>
            <a:srgbClr val="F4F8FC"/>
          </a:solidFill>
          <a:ln w="19050">
            <a:solidFill>
              <a:srgbClr val="C437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C43737"/>
                </a:solidFill>
                <a:latin typeface="Aptos"/>
              </a:defRPr>
            </a:pPr>
            <a:r>
              <a:t>Windows VM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903720" y="4434840"/>
            <a:ext cx="3657600" cy="310896"/>
          </a:xfrm>
          <a:prstGeom prst="roundRect">
            <a:avLst/>
          </a:prstGeom>
          <a:solidFill>
            <a:srgbClr val="FCEC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50" b="1">
                <a:solidFill>
                  <a:srgbClr val="C43737"/>
                </a:solidFill>
                <a:latin typeface="Aptos"/>
              </a:defRPr>
            </a:pPr>
            <a:r>
              <a:t>EXPOSED TO PUBLIC INTERNET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754880" y="5166360"/>
            <a:ext cx="63093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0F2B46"/>
                </a:solidFill>
                <a:latin typeface="Aptos"/>
              </a:defRPr>
            </a:pPr>
            <a:r>
              <a:t>Goal: move administration to a controlled, private access path.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1292840" y="6519672"/>
            <a:ext cx="50292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5C6C7A"/>
                </a:solidFill>
                <a:latin typeface="Aptos"/>
              </a:defRPr>
            </a:pPr>
            <a: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816852"/>
            <a:ext cx="12191695" cy="41148"/>
          </a:xfrm>
          <a:prstGeom prst="rect">
            <a:avLst/>
          </a:prstGeom>
          <a:solidFill>
            <a:srgbClr val="E0EB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347472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0F2B46"/>
                </a:solidFill>
                <a:latin typeface="Aptos Display"/>
              </a:defRPr>
            </a:pPr>
            <a:r>
              <a:t>Project Objectives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417320"/>
            <a:ext cx="3337560" cy="1600200"/>
          </a:xfrm>
          <a:prstGeom prst="roundRect">
            <a:avLst/>
          </a:prstGeom>
          <a:solidFill>
            <a:srgbClr val="E7F3FC"/>
          </a:solidFill>
          <a:ln w="12700">
            <a:solidFill>
              <a:srgbClr val="D2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50392" y="1600200"/>
            <a:ext cx="475488" cy="475488"/>
          </a:xfrm>
          <a:prstGeom prst="ellipse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50392" y="1664208"/>
            <a:ext cx="475488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Aptos"/>
              </a:defRPr>
            </a:pPr>
            <a: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35607" y="1581912"/>
            <a:ext cx="2441448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50" b="1">
                <a:solidFill>
                  <a:srgbClr val="0F2B46"/>
                </a:solidFill>
                <a:latin typeface="Aptos"/>
              </a:defRPr>
            </a:pPr>
            <a:r>
              <a:t>Restrict RDP/SSH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435607" y="2039112"/>
            <a:ext cx="2441448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50" b="0">
                <a:solidFill>
                  <a:srgbClr val="23313D"/>
                </a:solidFill>
                <a:latin typeface="Aptos"/>
              </a:defRPr>
            </a:pPr>
            <a:r>
              <a:t>Remove direct public RDP/SSH access.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480560" y="1417320"/>
            <a:ext cx="3337560" cy="1600200"/>
          </a:xfrm>
          <a:prstGeom prst="roundRect">
            <a:avLst/>
          </a:prstGeom>
          <a:solidFill>
            <a:srgbClr val="E7F3FC"/>
          </a:solidFill>
          <a:ln w="12700">
            <a:solidFill>
              <a:srgbClr val="D2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4645152" y="1600200"/>
            <a:ext cx="475488" cy="475488"/>
          </a:xfrm>
          <a:prstGeom prst="ellipse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645152" y="1664208"/>
            <a:ext cx="475488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Aptos"/>
              </a:defRPr>
            </a:pPr>
            <a: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230368" y="1581912"/>
            <a:ext cx="2441448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50" b="1">
                <a:solidFill>
                  <a:srgbClr val="0F2B46"/>
                </a:solidFill>
                <a:latin typeface="Aptos"/>
              </a:defRPr>
            </a:pPr>
            <a:r>
              <a:t>Harden SSH Exposure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230368" y="2039112"/>
            <a:ext cx="2441448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50" b="0">
                <a:solidFill>
                  <a:srgbClr val="23313D"/>
                </a:solidFill>
                <a:latin typeface="Aptos"/>
              </a:defRPr>
            </a:pPr>
            <a:r>
              <a:t>Limit SSH to approved secure paths.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275320" y="1417320"/>
            <a:ext cx="3337560" cy="1600200"/>
          </a:xfrm>
          <a:prstGeom prst="roundRect">
            <a:avLst/>
          </a:prstGeom>
          <a:solidFill>
            <a:srgbClr val="E7F3FC"/>
          </a:solidFill>
          <a:ln w="12700">
            <a:solidFill>
              <a:srgbClr val="D2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8439912" y="1600200"/>
            <a:ext cx="475488" cy="475488"/>
          </a:xfrm>
          <a:prstGeom prst="ellipse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439912" y="1664208"/>
            <a:ext cx="475488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Aptos"/>
              </a:defRPr>
            </a:pPr>
            <a:r>
              <a:t>03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025128" y="1581912"/>
            <a:ext cx="2441448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50" b="1">
                <a:solidFill>
                  <a:srgbClr val="0F2B46"/>
                </a:solidFill>
                <a:latin typeface="Aptos"/>
              </a:defRPr>
            </a:pPr>
            <a:r>
              <a:t>Secure Access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025128" y="2039112"/>
            <a:ext cx="2441448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50" b="0">
                <a:solidFill>
                  <a:srgbClr val="23313D"/>
                </a:solidFill>
                <a:latin typeface="Aptos"/>
              </a:defRPr>
            </a:pPr>
            <a:r>
              <a:t>Use Azure Bastion for browser-based sessions.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85800" y="3474720"/>
            <a:ext cx="3337560" cy="1600200"/>
          </a:xfrm>
          <a:prstGeom prst="roundRect">
            <a:avLst/>
          </a:prstGeom>
          <a:solidFill>
            <a:srgbClr val="E7F3FC"/>
          </a:solidFill>
          <a:ln w="12700">
            <a:solidFill>
              <a:srgbClr val="D2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850392" y="3657600"/>
            <a:ext cx="475488" cy="475488"/>
          </a:xfrm>
          <a:prstGeom prst="ellipse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50392" y="3721608"/>
            <a:ext cx="475488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Aptos"/>
              </a:defRPr>
            </a:pPr>
            <a:r>
              <a:t>04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435607" y="3639312"/>
            <a:ext cx="2441448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50" b="1">
                <a:solidFill>
                  <a:srgbClr val="0F2B46"/>
                </a:solidFill>
                <a:latin typeface="Aptos"/>
              </a:defRPr>
            </a:pPr>
            <a:r>
              <a:t>Private Network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435607" y="4096511"/>
            <a:ext cx="2441448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50" b="0">
                <a:solidFill>
                  <a:srgbClr val="23313D"/>
                </a:solidFill>
                <a:latin typeface="Aptos"/>
              </a:defRPr>
            </a:pPr>
            <a:r>
              <a:t>Keep VMs inside private subnets.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480560" y="3474720"/>
            <a:ext cx="3337560" cy="1600200"/>
          </a:xfrm>
          <a:prstGeom prst="roundRect">
            <a:avLst/>
          </a:prstGeom>
          <a:solidFill>
            <a:srgbClr val="E8F7EF"/>
          </a:solidFill>
          <a:ln w="12700">
            <a:solidFill>
              <a:srgbClr val="D2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4645152" y="3657600"/>
            <a:ext cx="475488" cy="475488"/>
          </a:xfrm>
          <a:prstGeom prst="ellipse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645152" y="3721608"/>
            <a:ext cx="475488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Aptos"/>
              </a:defRPr>
            </a:pPr>
            <a:r>
              <a:t>05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230368" y="3639312"/>
            <a:ext cx="2441448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50" b="1">
                <a:solidFill>
                  <a:srgbClr val="0F2B46"/>
                </a:solidFill>
                <a:latin typeface="Aptos"/>
              </a:defRPr>
            </a:pPr>
            <a:r>
              <a:t>Improve Posture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230368" y="4096511"/>
            <a:ext cx="2441448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50" b="0">
                <a:solidFill>
                  <a:srgbClr val="23313D"/>
                </a:solidFill>
                <a:latin typeface="Aptos"/>
              </a:defRPr>
            </a:pPr>
            <a:r>
              <a:t>Reduce direct exposure and support monitoring.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31520" y="5806440"/>
            <a:ext cx="10789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5C6C7A"/>
                </a:solidFill>
                <a:latin typeface="Aptos"/>
              </a:defRPr>
            </a:pPr>
            <a:r>
              <a:t>Focus: secure administration without making the VM directly reachable from the Internet.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1292840" y="6519672"/>
            <a:ext cx="50292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5C6C7A"/>
                </a:solidFill>
                <a:latin typeface="Aptos"/>
              </a:defRPr>
            </a:pPr>
            <a: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816852"/>
            <a:ext cx="12191695" cy="41148"/>
          </a:xfrm>
          <a:prstGeom prst="rect">
            <a:avLst/>
          </a:prstGeom>
          <a:solidFill>
            <a:srgbClr val="E0EB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347472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0F2B46"/>
                </a:solidFill>
                <a:latin typeface="Aptos Display"/>
              </a:defRPr>
            </a:pPr>
            <a:r>
              <a:t>Basic Concepts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12648" y="914400"/>
            <a:ext cx="10789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50">
                <a:solidFill>
                  <a:srgbClr val="5C6C7A"/>
                </a:solidFill>
                <a:latin typeface="Aptos"/>
              </a:defRPr>
            </a:pPr>
            <a:r>
              <a:t>Important Azure building blocks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94360" y="1508760"/>
            <a:ext cx="2084831" cy="2971800"/>
          </a:xfrm>
          <a:prstGeom prst="roundRect">
            <a:avLst/>
          </a:prstGeom>
          <a:solidFill>
            <a:srgbClr val="E7F3FC"/>
          </a:solidFill>
          <a:ln w="12700">
            <a:solidFill>
              <a:srgbClr val="D2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58952" y="1691639"/>
            <a:ext cx="475488" cy="475488"/>
          </a:xfrm>
          <a:prstGeom prst="ellipse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58952" y="1755648"/>
            <a:ext cx="475488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Aptos"/>
              </a:defRPr>
            </a:pPr>
            <a:r>
              <a:t>▣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44168" y="1673351"/>
            <a:ext cx="118871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50" b="1">
                <a:solidFill>
                  <a:srgbClr val="0F2B46"/>
                </a:solidFill>
                <a:latin typeface="Aptos"/>
              </a:defRPr>
            </a:pPr>
            <a:r>
              <a:t>VM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44168" y="2130552"/>
            <a:ext cx="1188719" cy="2221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50" b="0">
                <a:solidFill>
                  <a:srgbClr val="23313D"/>
                </a:solidFill>
                <a:latin typeface="Aptos"/>
              </a:defRPr>
            </a:pPr>
            <a:r>
              <a:t>Virtual computer running inside Azure.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58952" y="4069080"/>
            <a:ext cx="1737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50" b="1">
                <a:solidFill>
                  <a:srgbClr val="5C6C7A"/>
                </a:solidFill>
                <a:latin typeface="Aptos"/>
              </a:defRPr>
            </a:pPr>
            <a:r>
              <a:t>Cloud VM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898648" y="1508760"/>
            <a:ext cx="2084831" cy="2971800"/>
          </a:xfrm>
          <a:prstGeom prst="roundRect">
            <a:avLst/>
          </a:prstGeom>
          <a:solidFill>
            <a:srgbClr val="E7F3FC"/>
          </a:solidFill>
          <a:ln w="12700">
            <a:solidFill>
              <a:srgbClr val="D2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3063240" y="1691639"/>
            <a:ext cx="475488" cy="475488"/>
          </a:xfrm>
          <a:prstGeom prst="ellipse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063240" y="1755648"/>
            <a:ext cx="475488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Aptos"/>
              </a:defRPr>
            </a:pPr>
            <a:r>
              <a:t>◈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48456" y="1673351"/>
            <a:ext cx="118871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50" b="1">
                <a:solidFill>
                  <a:srgbClr val="0F2B46"/>
                </a:solidFill>
                <a:latin typeface="Aptos"/>
              </a:defRPr>
            </a:pPr>
            <a:r>
              <a:t>VNet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48456" y="2130552"/>
            <a:ext cx="1188719" cy="2221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50" b="0">
                <a:solidFill>
                  <a:srgbClr val="23313D"/>
                </a:solidFill>
                <a:latin typeface="Aptos"/>
              </a:defRPr>
            </a:pPr>
            <a:r>
              <a:t>Private network environment for Azure resources.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063240" y="4069080"/>
            <a:ext cx="1737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50" b="1">
                <a:solidFill>
                  <a:srgbClr val="5C6C7A"/>
                </a:solidFill>
                <a:latin typeface="Aptos"/>
              </a:defRPr>
            </a:pPr>
            <a:r>
              <a:t>10.0.0.0/16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202936" y="1508760"/>
            <a:ext cx="2084831" cy="2971800"/>
          </a:xfrm>
          <a:prstGeom prst="roundRect">
            <a:avLst/>
          </a:prstGeom>
          <a:solidFill>
            <a:srgbClr val="E7F3FC"/>
          </a:solidFill>
          <a:ln w="12700">
            <a:solidFill>
              <a:srgbClr val="D2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5367528" y="1691639"/>
            <a:ext cx="475488" cy="475488"/>
          </a:xfrm>
          <a:prstGeom prst="ellipse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367528" y="1755648"/>
            <a:ext cx="475488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Aptos"/>
              </a:defRPr>
            </a:pPr>
            <a:r>
              <a:t>□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952744" y="1673351"/>
            <a:ext cx="118871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50" b="1">
                <a:solidFill>
                  <a:srgbClr val="0F2B46"/>
                </a:solidFill>
                <a:latin typeface="Aptos"/>
              </a:defRPr>
            </a:pPr>
            <a:r>
              <a:t>Subnet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952744" y="2130552"/>
            <a:ext cx="1188719" cy="2221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50" b="0">
                <a:solidFill>
                  <a:srgbClr val="23313D"/>
                </a:solidFill>
                <a:latin typeface="Aptos"/>
              </a:defRPr>
            </a:pPr>
            <a:r>
              <a:t>Smaller network section inside a VNet.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367528" y="4069080"/>
            <a:ext cx="1737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50" b="1">
                <a:solidFill>
                  <a:srgbClr val="5C6C7A"/>
                </a:solidFill>
                <a:latin typeface="Aptos"/>
              </a:defRPr>
            </a:pPr>
            <a:r>
              <a:t>Subnet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507224" y="1508760"/>
            <a:ext cx="2084831" cy="2971800"/>
          </a:xfrm>
          <a:prstGeom prst="roundRect">
            <a:avLst/>
          </a:prstGeom>
          <a:solidFill>
            <a:srgbClr val="E8F7EF"/>
          </a:solidFill>
          <a:ln w="12700">
            <a:solidFill>
              <a:srgbClr val="D2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7671816" y="1691639"/>
            <a:ext cx="475488" cy="475488"/>
          </a:xfrm>
          <a:prstGeom prst="ellipse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671816" y="1755648"/>
            <a:ext cx="475488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Aptos"/>
              </a:defRPr>
            </a:pPr>
            <a:r>
              <a:t>✓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257032" y="1673351"/>
            <a:ext cx="118871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50" b="1">
                <a:solidFill>
                  <a:srgbClr val="0F2B46"/>
                </a:solidFill>
                <a:latin typeface="Aptos"/>
              </a:defRPr>
            </a:pPr>
            <a:r>
              <a:t>Bastion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257032" y="2130552"/>
            <a:ext cx="1188719" cy="2221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50" b="0">
                <a:solidFill>
                  <a:srgbClr val="23313D"/>
                </a:solidFill>
                <a:latin typeface="Aptos"/>
              </a:defRPr>
            </a:pPr>
            <a:r>
              <a:t>Managed service for secure RDP/SSH access.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671816" y="4069080"/>
            <a:ext cx="1737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50" b="1">
                <a:solidFill>
                  <a:srgbClr val="5C6C7A"/>
                </a:solidFill>
                <a:latin typeface="Aptos"/>
              </a:defRPr>
            </a:pPr>
            <a:r>
              <a:t>Gateway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9811512" y="1508760"/>
            <a:ext cx="2084831" cy="2971800"/>
          </a:xfrm>
          <a:prstGeom prst="roundRect">
            <a:avLst/>
          </a:prstGeom>
          <a:solidFill>
            <a:srgbClr val="E7F3FC"/>
          </a:solidFill>
          <a:ln w="12700">
            <a:solidFill>
              <a:srgbClr val="D2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9976104" y="1691639"/>
            <a:ext cx="475488" cy="475488"/>
          </a:xfrm>
          <a:prstGeom prst="ellipse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976104" y="1755648"/>
            <a:ext cx="475488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Aptos"/>
              </a:defRPr>
            </a:pPr>
            <a:r>
              <a:t>⇄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561320" y="1673351"/>
            <a:ext cx="118871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50" b="1">
                <a:solidFill>
                  <a:srgbClr val="0F2B46"/>
                </a:solidFill>
                <a:latin typeface="Aptos"/>
              </a:defRPr>
            </a:pPr>
            <a:r>
              <a:t>NSG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561320" y="2130552"/>
            <a:ext cx="1188719" cy="2221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50" b="0">
                <a:solidFill>
                  <a:srgbClr val="23313D"/>
                </a:solidFill>
                <a:latin typeface="Aptos"/>
              </a:defRPr>
            </a:pPr>
            <a:r>
              <a:t>Controls network traffic using security rules.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976104" y="4069080"/>
            <a:ext cx="1737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50" b="1">
                <a:solidFill>
                  <a:srgbClr val="5C6C7A"/>
                </a:solidFill>
                <a:latin typeface="Aptos"/>
              </a:defRPr>
            </a:pPr>
            <a:r>
              <a:t>Traffic rules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77240" y="5257800"/>
            <a:ext cx="10515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0F2B46"/>
                </a:solidFill>
                <a:latin typeface="Aptos"/>
              </a:defRPr>
            </a:pPr>
            <a:r>
              <a:t>Together, these components create a private network and controlled management path.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1292840" y="6519672"/>
            <a:ext cx="50292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5C6C7A"/>
                </a:solidFill>
                <a:latin typeface="Aptos"/>
              </a:defRPr>
            </a:pPr>
            <a: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816852"/>
            <a:ext cx="12191695" cy="41148"/>
          </a:xfrm>
          <a:prstGeom prst="rect">
            <a:avLst/>
          </a:prstGeom>
          <a:solidFill>
            <a:srgbClr val="E0EB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347472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0F2B46"/>
                </a:solidFill>
                <a:latin typeface="Aptos Display"/>
              </a:defRPr>
            </a:pPr>
            <a:r>
              <a:t>Proposed Solution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12648" y="914400"/>
            <a:ext cx="10789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50">
                <a:solidFill>
                  <a:srgbClr val="5C6C7A"/>
                </a:solidFill>
                <a:latin typeface="Aptos"/>
              </a:defRPr>
            </a:pPr>
            <a:r>
              <a:t>Azure Bastion as the secure entry point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371600"/>
            <a:ext cx="59436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600">
                <a:solidFill>
                  <a:srgbClr val="23313D"/>
                </a:solidFill>
                <a:latin typeface="Aptos"/>
              </a:defRPr>
            </a:pPr>
            <a:r>
              <a:t>• Deploy Azure Bastion inside a dedicated AzureBastionSubnet.</a:t>
            </a:r>
          </a:p>
          <a:p>
            <a:pPr>
              <a:spcAft>
                <a:spcPts val="1200"/>
              </a:spcAft>
              <a:defRPr sz="1600">
                <a:solidFill>
                  <a:srgbClr val="23313D"/>
                </a:solidFill>
                <a:latin typeface="Aptos"/>
              </a:defRPr>
            </a:pPr>
            <a:r>
              <a:t>• Start the management session from the Azure Portal.</a:t>
            </a:r>
          </a:p>
          <a:p>
            <a:pPr>
              <a:spcAft>
                <a:spcPts val="1200"/>
              </a:spcAft>
              <a:defRPr sz="1600">
                <a:solidFill>
                  <a:srgbClr val="23313D"/>
                </a:solidFill>
                <a:latin typeface="Aptos"/>
              </a:defRPr>
            </a:pPr>
            <a:r>
              <a:t>• Bastion provides the remote connection to the private VM.</a:t>
            </a:r>
          </a:p>
          <a:p>
            <a:pPr>
              <a:spcAft>
                <a:spcPts val="1200"/>
              </a:spcAft>
              <a:defRPr sz="1600">
                <a:solidFill>
                  <a:srgbClr val="23313D"/>
                </a:solidFill>
                <a:latin typeface="Aptos"/>
              </a:defRPr>
            </a:pPr>
            <a:r>
              <a:t>• The VM does not require a public IP for this access path.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543800" y="1325880"/>
            <a:ext cx="2331720" cy="621792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078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0F2B46"/>
                </a:solidFill>
                <a:latin typeface="Aptos"/>
              </a:defRPr>
            </a:pPr>
            <a:r>
              <a:t>Administrator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8705088" y="1947672"/>
            <a:ext cx="0" cy="356616"/>
          </a:xfrm>
          <a:prstGeom prst="line">
            <a:avLst/>
          </a:prstGeom>
          <a:ln w="31750">
            <a:solidFill>
              <a:srgbClr val="0078D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ounded Rectangle 8"/>
          <p:cNvSpPr/>
          <p:nvPr/>
        </p:nvSpPr>
        <p:spPr>
          <a:xfrm>
            <a:off x="7406640" y="2331720"/>
            <a:ext cx="2606040" cy="640080"/>
          </a:xfrm>
          <a:prstGeom prst="roundRect">
            <a:avLst/>
          </a:prstGeom>
          <a:solidFill>
            <a:srgbClr val="E7F3FC"/>
          </a:solidFill>
          <a:ln w="19050">
            <a:solidFill>
              <a:srgbClr val="0078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0F2B46"/>
                </a:solidFill>
                <a:latin typeface="Aptos"/>
              </a:defRPr>
            </a:pPr>
            <a:r>
              <a:t>Azure Portal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8705088" y="2971800"/>
            <a:ext cx="0" cy="338328"/>
          </a:xfrm>
          <a:prstGeom prst="line">
            <a:avLst/>
          </a:prstGeom>
          <a:ln w="31750">
            <a:solidFill>
              <a:srgbClr val="0078D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7178040" y="3337560"/>
            <a:ext cx="3063240" cy="749808"/>
          </a:xfrm>
          <a:prstGeom prst="roundRect">
            <a:avLst/>
          </a:prstGeom>
          <a:solidFill>
            <a:srgbClr val="E8F7EF"/>
          </a:solidFill>
          <a:ln w="19050">
            <a:solidFill>
              <a:srgbClr val="2387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1">
                <a:solidFill>
                  <a:srgbClr val="0F2B46"/>
                </a:solidFill>
                <a:latin typeface="Aptos"/>
              </a:defRPr>
            </a:pPr>
            <a:r>
              <a:t>Azure Bastion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8705088" y="4087368"/>
            <a:ext cx="0" cy="347472"/>
          </a:xfrm>
          <a:prstGeom prst="line">
            <a:avLst/>
          </a:prstGeom>
          <a:ln w="31750">
            <a:solidFill>
              <a:srgbClr val="23875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7223760" y="4480560"/>
            <a:ext cx="2971800" cy="658368"/>
          </a:xfrm>
          <a:prstGeom prst="roundRect">
            <a:avLst/>
          </a:prstGeom>
          <a:solidFill>
            <a:srgbClr val="F4F8FC"/>
          </a:solidFill>
          <a:ln w="19050">
            <a:solidFill>
              <a:srgbClr val="0078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0F2B46"/>
                </a:solidFill>
                <a:latin typeface="Aptos"/>
              </a:defRPr>
            </a:pPr>
            <a:r>
              <a:t>Private Network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8705088" y="5138928"/>
            <a:ext cx="0" cy="329184"/>
          </a:xfrm>
          <a:prstGeom prst="line">
            <a:avLst/>
          </a:prstGeom>
          <a:ln w="31750">
            <a:solidFill>
              <a:srgbClr val="0078D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7315200" y="5513832"/>
            <a:ext cx="2788920" cy="658368"/>
          </a:xfrm>
          <a:prstGeom prst="roundRect">
            <a:avLst/>
          </a:prstGeom>
          <a:solidFill>
            <a:srgbClr val="F4F8FC"/>
          </a:solidFill>
          <a:ln w="19050">
            <a:solidFill>
              <a:srgbClr val="0078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0F2B46"/>
                </a:solidFill>
                <a:latin typeface="Aptos"/>
              </a:defRPr>
            </a:pPr>
            <a:r>
              <a:t>Windows VM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292840" y="6519672"/>
            <a:ext cx="50292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5C6C7A"/>
                </a:solidFill>
                <a:latin typeface="Aptos"/>
              </a:defRPr>
            </a:pPr>
            <a: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816852"/>
            <a:ext cx="12191695" cy="41148"/>
          </a:xfrm>
          <a:prstGeom prst="rect">
            <a:avLst/>
          </a:prstGeom>
          <a:solidFill>
            <a:srgbClr val="E0EB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347472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0F2B46"/>
                </a:solidFill>
                <a:latin typeface="Aptos Display"/>
              </a:defRPr>
            </a:pPr>
            <a:r>
              <a:t>System Architecture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12648" y="914400"/>
            <a:ext cx="10789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50">
                <a:solidFill>
                  <a:srgbClr val="5C6C7A"/>
                </a:solidFill>
                <a:latin typeface="Aptos"/>
              </a:defRPr>
            </a:pPr>
            <a:r>
              <a:t>High-level private administration architecture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886200" y="1234440"/>
            <a:ext cx="7635240" cy="4892040"/>
          </a:xfrm>
          <a:prstGeom prst="roundRect">
            <a:avLst/>
          </a:prstGeom>
          <a:solidFill>
            <a:srgbClr val="F9FCFE"/>
          </a:solidFill>
          <a:ln w="25400">
            <a:solidFill>
              <a:srgbClr val="0078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60520" y="1353312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F2B46"/>
                </a:solidFill>
                <a:latin typeface="Aptos"/>
              </a:defRPr>
            </a:pPr>
            <a:r>
              <a:t>VNet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2240280"/>
            <a:ext cx="2103120" cy="8229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078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0F2B46"/>
                </a:solidFill>
                <a:latin typeface="Aptos"/>
              </a:defRPr>
            </a:pPr>
            <a:r>
              <a:t>Administrator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2788920" y="2651760"/>
            <a:ext cx="1097280" cy="0"/>
          </a:xfrm>
          <a:prstGeom prst="line">
            <a:avLst/>
          </a:prstGeom>
          <a:ln w="31750">
            <a:solidFill>
              <a:srgbClr val="0078D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4251960" y="1965960"/>
            <a:ext cx="2194560" cy="777240"/>
          </a:xfrm>
          <a:prstGeom prst="roundRect">
            <a:avLst/>
          </a:prstGeom>
          <a:solidFill>
            <a:srgbClr val="E7F3FC"/>
          </a:solidFill>
          <a:ln w="19050">
            <a:solidFill>
              <a:srgbClr val="0078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0F2B46"/>
                </a:solidFill>
                <a:latin typeface="Aptos"/>
              </a:defRPr>
            </a:pPr>
            <a:r>
              <a:t>Azure Portal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5349240" y="2743200"/>
            <a:ext cx="0" cy="411480"/>
          </a:xfrm>
          <a:prstGeom prst="line">
            <a:avLst/>
          </a:prstGeom>
          <a:ln w="31750">
            <a:solidFill>
              <a:srgbClr val="0078D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4069080" y="3182112"/>
            <a:ext cx="2560320" cy="822960"/>
          </a:xfrm>
          <a:prstGeom prst="roundRect">
            <a:avLst/>
          </a:prstGeom>
          <a:solidFill>
            <a:srgbClr val="E8F7EF"/>
          </a:solidFill>
          <a:ln w="19050">
            <a:solidFill>
              <a:srgbClr val="2387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0F2B46"/>
                </a:solidFill>
                <a:latin typeface="Aptos"/>
              </a:defRPr>
            </a:pPr>
            <a:r>
              <a:t>Azure Bastion</a:t>
            </a:r>
            <a:br/>
            <a:r>
              <a:t>AzureBastionSubnet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6629400" y="3593592"/>
            <a:ext cx="685800" cy="0"/>
          </a:xfrm>
          <a:prstGeom prst="line">
            <a:avLst/>
          </a:prstGeom>
          <a:ln w="31750">
            <a:solidFill>
              <a:srgbClr val="23875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7360920" y="3182112"/>
            <a:ext cx="3383280" cy="822960"/>
          </a:xfrm>
          <a:prstGeom prst="roundRect">
            <a:avLst/>
          </a:prstGeom>
          <a:solidFill>
            <a:srgbClr val="F4F8FC"/>
          </a:solidFill>
          <a:ln w="19050">
            <a:solidFill>
              <a:srgbClr val="0078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0F2B46"/>
                </a:solidFill>
                <a:latin typeface="Aptos"/>
              </a:defRPr>
            </a:pPr>
            <a:r>
              <a:t>VM Subnet</a:t>
            </a:r>
            <a:br/>
            <a:r>
              <a:t>Private Windows VM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617720" y="4572000"/>
            <a:ext cx="2560320" cy="914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2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4782312" y="4754880"/>
            <a:ext cx="475488" cy="475488"/>
          </a:xfrm>
          <a:prstGeom prst="ellipse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782312" y="4818888"/>
            <a:ext cx="475488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Aptos"/>
              </a:defRPr>
            </a:pPr>
            <a:r>
              <a:t>⇄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367528" y="4736592"/>
            <a:ext cx="1664207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50" b="1">
                <a:solidFill>
                  <a:srgbClr val="0F2B46"/>
                </a:solidFill>
                <a:latin typeface="Aptos"/>
              </a:defRPr>
            </a:pPr>
            <a:r>
              <a:t>NSG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367528" y="5193792"/>
            <a:ext cx="1664207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50" b="0">
                <a:solidFill>
                  <a:srgbClr val="23313D"/>
                </a:solidFill>
                <a:latin typeface="Aptos"/>
              </a:defRPr>
            </a:pPr>
            <a:r>
              <a:t>Controls network traffic.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635240" y="4663440"/>
            <a:ext cx="2743200" cy="310896"/>
          </a:xfrm>
          <a:prstGeom prst="roundRect">
            <a:avLst/>
          </a:prstGeom>
          <a:solidFill>
            <a:srgbClr val="E8F7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50" b="1">
                <a:solidFill>
                  <a:srgbClr val="238753"/>
                </a:solidFill>
                <a:latin typeface="Aptos"/>
              </a:defRPr>
            </a:pPr>
            <a:r>
              <a:t>No public RDP/SSH required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498079" y="5577840"/>
            <a:ext cx="3383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5C6C7A"/>
                </a:solidFill>
                <a:latin typeface="Aptos"/>
              </a:defRPr>
            </a:pPr>
            <a:r>
              <a:t>Private IP management path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292840" y="6519672"/>
            <a:ext cx="50292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5C6C7A"/>
                </a:solidFill>
                <a:latin typeface="Aptos"/>
              </a:defRPr>
            </a:pPr>
            <a: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816852"/>
            <a:ext cx="12191695" cy="41148"/>
          </a:xfrm>
          <a:prstGeom prst="rect">
            <a:avLst/>
          </a:prstGeom>
          <a:solidFill>
            <a:srgbClr val="E0EB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347472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0F2B46"/>
                </a:solidFill>
                <a:latin typeface="Aptos Display"/>
              </a:defRPr>
            </a:pPr>
            <a:r>
              <a:t>VNet and Subnet Design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12648" y="914400"/>
            <a:ext cx="10789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50">
                <a:solidFill>
                  <a:srgbClr val="5C6C7A"/>
                </a:solidFill>
                <a:latin typeface="Aptos"/>
              </a:defRPr>
            </a:pPr>
            <a:r>
              <a:t>Example address ranges — for demonstration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371600"/>
            <a:ext cx="10835640" cy="4480560"/>
          </a:xfrm>
          <a:prstGeom prst="roundRect">
            <a:avLst/>
          </a:prstGeom>
          <a:solidFill>
            <a:srgbClr val="F4F8FC"/>
          </a:solidFill>
          <a:ln w="25400">
            <a:solidFill>
              <a:srgbClr val="0078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55448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F2B46"/>
                </a:solidFill>
                <a:latin typeface="Aptos"/>
              </a:defRPr>
            </a:pPr>
            <a:r>
              <a:t>VNet — 10.0.0.0/16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051560" y="2331720"/>
            <a:ext cx="4297680" cy="13258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078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1">
                <a:solidFill>
                  <a:srgbClr val="0F2B46"/>
                </a:solidFill>
                <a:latin typeface="Aptos"/>
              </a:defRPr>
            </a:pPr>
            <a:r>
              <a:t>VM Subnet</a:t>
            </a:r>
            <a:br/>
            <a:r>
              <a:t>10.0.1.0/24</a:t>
            </a:r>
            <a:br/>
            <a:r>
              <a:t>Windows VM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812280" y="2331720"/>
            <a:ext cx="4297680" cy="1325880"/>
          </a:xfrm>
          <a:prstGeom prst="roundRect">
            <a:avLst/>
          </a:prstGeom>
          <a:solidFill>
            <a:srgbClr val="E8F7EF"/>
          </a:solidFill>
          <a:ln w="19050">
            <a:solidFill>
              <a:srgbClr val="2387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1">
                <a:solidFill>
                  <a:srgbClr val="0F2B46"/>
                </a:solidFill>
                <a:latin typeface="Aptos"/>
              </a:defRPr>
            </a:pPr>
            <a:r>
              <a:t>AzureBastionSubnet</a:t>
            </a:r>
            <a:br/>
            <a:r>
              <a:t>10.0.2.0/24</a:t>
            </a:r>
            <a:br/>
            <a:r>
              <a:t>Azure Bastion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5349240" y="2999232"/>
            <a:ext cx="1463040" cy="0"/>
          </a:xfrm>
          <a:prstGeom prst="line">
            <a:avLst/>
          </a:prstGeom>
          <a:ln w="31750">
            <a:solidFill>
              <a:srgbClr val="0078D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4800600" y="2587752"/>
            <a:ext cx="1143000" cy="310896"/>
          </a:xfrm>
          <a:prstGeom prst="roundRect">
            <a:avLst/>
          </a:prstGeom>
          <a:solidFill>
            <a:srgbClr val="E7F3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50" b="1">
                <a:solidFill>
                  <a:srgbClr val="0078D4"/>
                </a:solidFill>
                <a:latin typeface="Aptos"/>
              </a:defRPr>
            </a:pPr>
            <a:r>
              <a:t>VNet path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51560" y="4160520"/>
            <a:ext cx="99669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0F2B46"/>
                </a:solidFill>
                <a:latin typeface="Aptos"/>
              </a:defRPr>
            </a:pPr>
            <a:r>
              <a:t>AzureBastionSubnet must use the exact name “AzureBastionSubnet”.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51560" y="4846320"/>
            <a:ext cx="9966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5C6C7A"/>
                </a:solidFill>
                <a:latin typeface="Aptos"/>
              </a:defRPr>
            </a:pPr>
            <a:r>
              <a:t>Avoid overlapping address ranges when designing the VNet.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51560" y="5577840"/>
            <a:ext cx="9966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50" b="1">
                <a:solidFill>
                  <a:srgbClr val="C43737"/>
                </a:solidFill>
                <a:latin typeface="Aptos"/>
              </a:defRPr>
            </a:pPr>
            <a:r>
              <a:t>Example configuration only — actual ranges should match the deployment plan.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292840" y="6519672"/>
            <a:ext cx="50292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5C6C7A"/>
                </a:solidFill>
                <a:latin typeface="Aptos"/>
              </a:defRPr>
            </a:pPr>
            <a: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816852"/>
            <a:ext cx="12191695" cy="41148"/>
          </a:xfrm>
          <a:prstGeom prst="rect">
            <a:avLst/>
          </a:prstGeom>
          <a:solidFill>
            <a:srgbClr val="E0EB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347472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0F2B46"/>
                </a:solidFill>
                <a:latin typeface="Aptos Display"/>
              </a:defRPr>
            </a:pPr>
            <a:r>
              <a:t>What Is an NSG?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12648" y="914400"/>
            <a:ext cx="10789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50">
                <a:solidFill>
                  <a:srgbClr val="5C6C7A"/>
                </a:solidFill>
                <a:latin typeface="Aptos"/>
              </a:defRPr>
            </a:pPr>
            <a:r>
              <a:t>Network Security Group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371600"/>
            <a:ext cx="585216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550">
                <a:solidFill>
                  <a:srgbClr val="23313D"/>
                </a:solidFill>
                <a:latin typeface="Aptos"/>
              </a:defRPr>
            </a:pPr>
            <a:r>
              <a:t>• An NSG controls inbound and outbound network traffic.</a:t>
            </a:r>
          </a:p>
          <a:p>
            <a:pPr>
              <a:spcAft>
                <a:spcPts val="1200"/>
              </a:spcAft>
              <a:defRPr sz="1550">
                <a:solidFill>
                  <a:srgbClr val="23313D"/>
                </a:solidFill>
                <a:latin typeface="Aptos"/>
              </a:defRPr>
            </a:pPr>
            <a:r>
              <a:t>• Rules can allow or deny traffic based on source, destination, port, protocol and priority.</a:t>
            </a:r>
          </a:p>
          <a:p>
            <a:pPr>
              <a:spcAft>
                <a:spcPts val="1200"/>
              </a:spcAft>
              <a:defRPr sz="1550">
                <a:solidFill>
                  <a:srgbClr val="23313D"/>
                </a:solidFill>
                <a:latin typeface="Aptos"/>
              </a:defRPr>
            </a:pPr>
            <a:r>
              <a:t>• The project uses NSG rules to prevent direct Internet RDP/SSH access.</a:t>
            </a:r>
          </a:p>
          <a:p>
            <a:pPr>
              <a:spcAft>
                <a:spcPts val="1200"/>
              </a:spcAft>
              <a:defRPr sz="1550">
                <a:solidFill>
                  <a:srgbClr val="23313D"/>
                </a:solidFill>
                <a:latin typeface="Aptos"/>
              </a:defRPr>
            </a:pPr>
            <a:r>
              <a:t>• Rules should be designed to permit only the management traffic required by the architecture.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949440" y="1417320"/>
            <a:ext cx="4023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C43737"/>
                </a:solidFill>
                <a:latin typeface="Aptos"/>
              </a:defRPr>
            </a:pPr>
            <a:r>
              <a:t>DIRECT INTERNET PATH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040880" y="1920240"/>
            <a:ext cx="1463040" cy="640080"/>
          </a:xfrm>
          <a:prstGeom prst="roundRect">
            <a:avLst/>
          </a:prstGeom>
          <a:solidFill>
            <a:srgbClr val="FCECEC"/>
          </a:solidFill>
          <a:ln w="19050">
            <a:solidFill>
              <a:srgbClr val="C437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C43737"/>
                </a:solidFill>
                <a:latin typeface="Aptos"/>
              </a:defRPr>
            </a:pPr>
            <a:r>
              <a:t>Internet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8503920" y="2240280"/>
            <a:ext cx="411480" cy="0"/>
          </a:xfrm>
          <a:prstGeom prst="line">
            <a:avLst/>
          </a:prstGeom>
          <a:ln w="31750">
            <a:solidFill>
              <a:srgbClr val="C4373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8915400" y="1920240"/>
            <a:ext cx="1554480" cy="640080"/>
          </a:xfrm>
          <a:prstGeom prst="roundRect">
            <a:avLst/>
          </a:prstGeom>
          <a:solidFill>
            <a:srgbClr val="FCECEC"/>
          </a:solidFill>
          <a:ln w="19050">
            <a:solidFill>
              <a:srgbClr val="C437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C43737"/>
                </a:solidFill>
                <a:latin typeface="Aptos"/>
              </a:defRPr>
            </a:pPr>
            <a:r>
              <a:t>NSG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10469880" y="2240280"/>
            <a:ext cx="457200" cy="0"/>
          </a:xfrm>
          <a:prstGeom prst="line">
            <a:avLst/>
          </a:prstGeom>
          <a:ln w="31750">
            <a:solidFill>
              <a:srgbClr val="C4373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10835640" y="1920240"/>
            <a:ext cx="640080" cy="640080"/>
          </a:xfrm>
          <a:prstGeom prst="roundRect">
            <a:avLst/>
          </a:prstGeom>
          <a:solidFill>
            <a:srgbClr val="FCECEC"/>
          </a:solidFill>
          <a:ln w="19050">
            <a:solidFill>
              <a:srgbClr val="C437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C43737"/>
                </a:solidFill>
                <a:latin typeface="Aptos"/>
              </a:defRPr>
            </a:pPr>
            <a:r>
              <a:t>✕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49440" y="3063240"/>
            <a:ext cx="4023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238753"/>
                </a:solidFill>
                <a:latin typeface="Aptos"/>
              </a:defRPr>
            </a:pPr>
            <a:r>
              <a:t>CONTROLLED MANAGEMENT PATH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040880" y="3566160"/>
            <a:ext cx="1463040" cy="640080"/>
          </a:xfrm>
          <a:prstGeom prst="roundRect">
            <a:avLst/>
          </a:prstGeom>
          <a:solidFill>
            <a:srgbClr val="E8F7EF"/>
          </a:solidFill>
          <a:ln w="19050">
            <a:solidFill>
              <a:srgbClr val="2387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238753"/>
                </a:solidFill>
                <a:latin typeface="Aptos"/>
              </a:defRPr>
            </a:pPr>
            <a:r>
              <a:t>Bastion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8503920" y="3886200"/>
            <a:ext cx="411480" cy="0"/>
          </a:xfrm>
          <a:prstGeom prst="line">
            <a:avLst/>
          </a:prstGeom>
          <a:ln w="31750">
            <a:solidFill>
              <a:srgbClr val="23875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8915400" y="3566160"/>
            <a:ext cx="1554480" cy="640080"/>
          </a:xfrm>
          <a:prstGeom prst="roundRect">
            <a:avLst/>
          </a:prstGeom>
          <a:solidFill>
            <a:srgbClr val="E8F7EF"/>
          </a:solidFill>
          <a:ln w="19050">
            <a:solidFill>
              <a:srgbClr val="2387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238753"/>
                </a:solidFill>
                <a:latin typeface="Aptos"/>
              </a:defRPr>
            </a:pPr>
            <a:r>
              <a:t>NSG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10469880" y="3886200"/>
            <a:ext cx="457200" cy="0"/>
          </a:xfrm>
          <a:prstGeom prst="line">
            <a:avLst/>
          </a:prstGeom>
          <a:ln w="31750">
            <a:solidFill>
              <a:srgbClr val="23875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ounded Rectangle 17"/>
          <p:cNvSpPr/>
          <p:nvPr/>
        </p:nvSpPr>
        <p:spPr>
          <a:xfrm>
            <a:off x="10835640" y="3566160"/>
            <a:ext cx="640080" cy="640080"/>
          </a:xfrm>
          <a:prstGeom prst="roundRect">
            <a:avLst/>
          </a:prstGeom>
          <a:solidFill>
            <a:srgbClr val="E8F7EF"/>
          </a:solidFill>
          <a:ln w="19050">
            <a:solidFill>
              <a:srgbClr val="2387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238753"/>
                </a:solidFill>
                <a:latin typeface="Aptos"/>
              </a:defRPr>
            </a:pPr>
            <a:r>
              <a:t>✓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995160" y="4754880"/>
            <a:ext cx="4114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50" b="0">
                <a:solidFill>
                  <a:srgbClr val="5C6C7A"/>
                </a:solidFill>
                <a:latin typeface="Aptos"/>
              </a:defRPr>
            </a:pPr>
            <a:r>
              <a:t>Exact NSG rules depend on the chosen Bastion deployment and network design.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292840" y="6519672"/>
            <a:ext cx="50292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5C6C7A"/>
                </a:solidFill>
                <a:latin typeface="Aptos"/>
              </a:defRPr>
            </a:pPr>
            <a:r>
              <a:t>09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816852"/>
            <a:ext cx="12191695" cy="41148"/>
          </a:xfrm>
          <a:prstGeom prst="rect">
            <a:avLst/>
          </a:prstGeom>
          <a:solidFill>
            <a:srgbClr val="E0EB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347472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0F2B46"/>
                </a:solidFill>
                <a:latin typeface="Aptos Display"/>
              </a:defRPr>
            </a:pPr>
            <a:r>
              <a:t>RDP and Port 3389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12648" y="914400"/>
            <a:ext cx="10789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50">
                <a:solidFill>
                  <a:srgbClr val="5C6C7A"/>
                </a:solidFill>
                <a:latin typeface="Aptos"/>
              </a:defRPr>
            </a:pPr>
            <a:r>
              <a:t>Understanding Remote Desktop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417320"/>
            <a:ext cx="3246120" cy="1828800"/>
          </a:xfrm>
          <a:prstGeom prst="roundRect">
            <a:avLst/>
          </a:prstGeom>
          <a:solidFill>
            <a:srgbClr val="E7F3FC"/>
          </a:solidFill>
          <a:ln w="12700">
            <a:solidFill>
              <a:srgbClr val="D2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896112" y="1600200"/>
            <a:ext cx="475488" cy="475488"/>
          </a:xfrm>
          <a:prstGeom prst="ellipse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96112" y="1664208"/>
            <a:ext cx="475488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Aptos"/>
              </a:defRPr>
            </a:pPr>
            <a:r>
              <a:t>▣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481328" y="1581912"/>
            <a:ext cx="2350008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50" b="1">
                <a:solidFill>
                  <a:srgbClr val="0F2B46"/>
                </a:solidFill>
                <a:latin typeface="Aptos"/>
              </a:defRPr>
            </a:pPr>
            <a:r>
              <a:t>RDP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81328" y="2039112"/>
            <a:ext cx="2350008" cy="107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50" b="0">
                <a:solidFill>
                  <a:srgbClr val="23313D"/>
                </a:solidFill>
                <a:latin typeface="Aptos"/>
              </a:defRPr>
            </a:pPr>
            <a:r>
              <a:t>Remote Desktop Protocol is commonly used to remotely control Windows computers.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3474720"/>
            <a:ext cx="3246120" cy="1828800"/>
          </a:xfrm>
          <a:prstGeom prst="roundRect">
            <a:avLst/>
          </a:prstGeom>
          <a:solidFill>
            <a:srgbClr val="F4F8FC"/>
          </a:solidFill>
          <a:ln w="12700">
            <a:solidFill>
              <a:srgbClr val="D2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896112" y="3657600"/>
            <a:ext cx="475488" cy="475488"/>
          </a:xfrm>
          <a:prstGeom prst="ellipse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96112" y="3721608"/>
            <a:ext cx="475488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Aptos"/>
              </a:defRPr>
            </a:pPr>
            <a:r>
              <a:t>#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81328" y="3639312"/>
            <a:ext cx="2350008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50" b="1">
                <a:solidFill>
                  <a:srgbClr val="0F2B46"/>
                </a:solidFill>
                <a:latin typeface="Aptos"/>
              </a:defRPr>
            </a:pPr>
            <a:r>
              <a:t>TCP 3389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81328" y="4096511"/>
            <a:ext cx="2350008" cy="107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50" b="0">
                <a:solidFill>
                  <a:srgbClr val="23313D"/>
                </a:solidFill>
                <a:latin typeface="Aptos"/>
              </a:defRPr>
            </a:pPr>
            <a:r>
              <a:t>RDP commonly uses TCP port 3389 for network communication.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0" y="1463040"/>
            <a:ext cx="6400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0F2B46"/>
                </a:solidFill>
                <a:latin typeface="Aptos"/>
              </a:defRPr>
            </a:pPr>
            <a:r>
              <a:t>TARGET SECURITY POSTURE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800600" y="2240280"/>
            <a:ext cx="1828800" cy="7772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078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0F2B46"/>
                </a:solidFill>
                <a:latin typeface="Aptos"/>
              </a:defRPr>
            </a:pPr>
            <a:r>
              <a:t>Administrator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6629400" y="2633472"/>
            <a:ext cx="548640" cy="0"/>
          </a:xfrm>
          <a:prstGeom prst="line">
            <a:avLst/>
          </a:prstGeom>
          <a:ln w="31750">
            <a:solidFill>
              <a:srgbClr val="0078D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7178040" y="2240280"/>
            <a:ext cx="2057400" cy="777240"/>
          </a:xfrm>
          <a:prstGeom prst="roundRect">
            <a:avLst/>
          </a:prstGeom>
          <a:solidFill>
            <a:srgbClr val="E8F7EF"/>
          </a:solidFill>
          <a:ln w="19050">
            <a:solidFill>
              <a:srgbClr val="2387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0F2B46"/>
                </a:solidFill>
                <a:latin typeface="Aptos"/>
              </a:defRPr>
            </a:pPr>
            <a:r>
              <a:t>Bastion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9235440" y="2633472"/>
            <a:ext cx="548640" cy="0"/>
          </a:xfrm>
          <a:prstGeom prst="line">
            <a:avLst/>
          </a:prstGeom>
          <a:ln w="31750">
            <a:solidFill>
              <a:srgbClr val="23875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ounded Rectangle 20"/>
          <p:cNvSpPr/>
          <p:nvPr/>
        </p:nvSpPr>
        <p:spPr>
          <a:xfrm>
            <a:off x="9784080" y="2240280"/>
            <a:ext cx="1371600" cy="777240"/>
          </a:xfrm>
          <a:prstGeom prst="roundRect">
            <a:avLst/>
          </a:prstGeom>
          <a:solidFill>
            <a:srgbClr val="F4F8FC"/>
          </a:solidFill>
          <a:ln w="19050">
            <a:solidFill>
              <a:srgbClr val="0078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0F2B46"/>
                </a:solidFill>
                <a:latin typeface="Aptos"/>
              </a:defRPr>
            </a:pPr>
            <a:r>
              <a:t>VM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669280" y="3337560"/>
            <a:ext cx="4663440" cy="310896"/>
          </a:xfrm>
          <a:prstGeom prst="roundRect">
            <a:avLst/>
          </a:prstGeom>
          <a:solidFill>
            <a:srgbClr val="E8F7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50" b="1">
                <a:solidFill>
                  <a:srgbClr val="238753"/>
                </a:solidFill>
                <a:latin typeface="Aptos"/>
              </a:defRPr>
            </a:pPr>
            <a:r>
              <a:t>Avoid direct public exposure of TCP 3389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663440" y="4251960"/>
            <a:ext cx="630936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23313D"/>
                </a:solidFill>
                <a:latin typeface="Aptos"/>
              </a:defRPr>
            </a:pPr>
            <a:r>
              <a:t>In this project, RDP remains the remote-control protocol, but the access path is mediated by Azure Bastion instead of direct public exposure.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292840" y="6519672"/>
            <a:ext cx="50292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5C6C7A"/>
                </a:solidFill>
                <a:latin typeface="Aptos"/>
              </a:defRPr>
            </a:pPr>
            <a: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816852"/>
            <a:ext cx="12191695" cy="41148"/>
          </a:xfrm>
          <a:prstGeom prst="rect">
            <a:avLst/>
          </a:prstGeom>
          <a:solidFill>
            <a:srgbClr val="E0EB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347472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0F2B46"/>
                </a:solidFill>
                <a:latin typeface="Aptos Display"/>
              </a:defRPr>
            </a:pPr>
            <a:r>
              <a:t>Secure Connection Flow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12648" y="914400"/>
            <a:ext cx="10789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50">
                <a:solidFill>
                  <a:srgbClr val="5C6C7A"/>
                </a:solidFill>
                <a:latin typeface="Aptos"/>
              </a:defRPr>
            </a:pPr>
            <a:r>
              <a:t>How the administrator connects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2148840"/>
            <a:ext cx="1645920" cy="868680"/>
          </a:xfrm>
          <a:prstGeom prst="roundRect">
            <a:avLst/>
          </a:prstGeom>
          <a:solidFill>
            <a:srgbClr val="E7F3FC"/>
          </a:solidFill>
          <a:ln w="19050">
            <a:solidFill>
              <a:srgbClr val="0078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  <a:latin typeface="Aptos"/>
              </a:defRPr>
            </a:pPr>
            <a:r>
              <a:t>Your Laptop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2286000" y="2587752"/>
            <a:ext cx="502920" cy="0"/>
          </a:xfrm>
          <a:prstGeom prst="line">
            <a:avLst/>
          </a:prstGeom>
          <a:ln w="31750">
            <a:solidFill>
              <a:srgbClr val="0078D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640080" y="3200400"/>
            <a:ext cx="16459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50" b="0">
                <a:solidFill>
                  <a:srgbClr val="5C6C7A"/>
                </a:solidFill>
                <a:latin typeface="Aptos"/>
              </a:defRPr>
            </a:pPr>
            <a:r>
              <a:t>Administrator device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788920" y="2148840"/>
            <a:ext cx="1645920" cy="868680"/>
          </a:xfrm>
          <a:prstGeom prst="roundRect">
            <a:avLst/>
          </a:prstGeom>
          <a:solidFill>
            <a:srgbClr val="E7F3FC"/>
          </a:solidFill>
          <a:ln w="19050">
            <a:solidFill>
              <a:srgbClr val="0078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  <a:latin typeface="Aptos"/>
              </a:defRPr>
            </a:pPr>
            <a:r>
              <a:t>Azure Portal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4434840" y="2587752"/>
            <a:ext cx="502920" cy="0"/>
          </a:xfrm>
          <a:prstGeom prst="line">
            <a:avLst/>
          </a:prstGeom>
          <a:ln w="31750">
            <a:solidFill>
              <a:srgbClr val="0078D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2788920" y="3200400"/>
            <a:ext cx="16459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50" b="0">
                <a:solidFill>
                  <a:srgbClr val="5C6C7A"/>
                </a:solidFill>
                <a:latin typeface="Aptos"/>
              </a:defRPr>
            </a:pPr>
            <a:r>
              <a:t>Entry point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937760" y="2148840"/>
            <a:ext cx="1645920" cy="868680"/>
          </a:xfrm>
          <a:prstGeom prst="roundRect">
            <a:avLst/>
          </a:prstGeom>
          <a:solidFill>
            <a:srgbClr val="E8F7EF"/>
          </a:solidFill>
          <a:ln w="19050">
            <a:solidFill>
              <a:srgbClr val="2387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  <a:latin typeface="Aptos"/>
              </a:defRPr>
            </a:pPr>
            <a:r>
              <a:t>Azure Bastion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6583680" y="2587752"/>
            <a:ext cx="502920" cy="0"/>
          </a:xfrm>
          <a:prstGeom prst="line">
            <a:avLst/>
          </a:prstGeom>
          <a:ln w="31750">
            <a:solidFill>
              <a:srgbClr val="23875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4937760" y="3200400"/>
            <a:ext cx="16459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50" b="0">
                <a:solidFill>
                  <a:srgbClr val="5C6C7A"/>
                </a:solidFill>
                <a:latin typeface="Aptos"/>
              </a:defRPr>
            </a:pPr>
            <a:r>
              <a:t>Security gateway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086600" y="2148840"/>
            <a:ext cx="1645920" cy="868680"/>
          </a:xfrm>
          <a:prstGeom prst="roundRect">
            <a:avLst/>
          </a:prstGeom>
          <a:solidFill>
            <a:srgbClr val="E7F3FC"/>
          </a:solidFill>
          <a:ln w="19050">
            <a:solidFill>
              <a:srgbClr val="0078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  <a:latin typeface="Aptos"/>
              </a:defRPr>
            </a:pPr>
            <a:r>
              <a:t>RDP Session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8732520" y="2587752"/>
            <a:ext cx="502920" cy="0"/>
          </a:xfrm>
          <a:prstGeom prst="line">
            <a:avLst/>
          </a:prstGeom>
          <a:ln w="31750">
            <a:solidFill>
              <a:srgbClr val="0078D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7086600" y="3200400"/>
            <a:ext cx="16459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50" b="0">
                <a:solidFill>
                  <a:srgbClr val="5C6C7A"/>
                </a:solidFill>
                <a:latin typeface="Aptos"/>
              </a:defRPr>
            </a:pPr>
            <a:r>
              <a:t>Remote-control protocol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235440" y="2148840"/>
            <a:ext cx="1645920" cy="868680"/>
          </a:xfrm>
          <a:prstGeom prst="roundRect">
            <a:avLst/>
          </a:prstGeom>
          <a:solidFill>
            <a:srgbClr val="E7F3FC"/>
          </a:solidFill>
          <a:ln w="19050">
            <a:solidFill>
              <a:srgbClr val="0F2B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  <a:latin typeface="Aptos"/>
              </a:defRPr>
            </a:pPr>
            <a:r>
              <a:t>Windows VM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235440" y="3200400"/>
            <a:ext cx="16459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50" b="0">
                <a:solidFill>
                  <a:srgbClr val="5C6C7A"/>
                </a:solidFill>
                <a:latin typeface="Aptos"/>
              </a:defRPr>
            </a:pPr>
            <a:r>
              <a:t>Target computer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828800" y="4572000"/>
            <a:ext cx="8595360" cy="1051560"/>
          </a:xfrm>
          <a:prstGeom prst="roundRect">
            <a:avLst/>
          </a:prstGeom>
          <a:solidFill>
            <a:srgbClr val="F4F8FC"/>
          </a:solidFill>
          <a:ln w="12700">
            <a:solidFill>
              <a:srgbClr val="D2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1993392" y="4754880"/>
            <a:ext cx="475488" cy="475488"/>
          </a:xfrm>
          <a:prstGeom prst="ellipse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993392" y="4818888"/>
            <a:ext cx="475488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Aptos"/>
              </a:defRPr>
            </a:pPr>
            <a:r>
              <a:t>✓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578608" y="4736592"/>
            <a:ext cx="7699248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50" b="1">
                <a:solidFill>
                  <a:srgbClr val="0F2B46"/>
                </a:solidFill>
                <a:latin typeface="Aptos"/>
              </a:defRPr>
            </a:pPr>
            <a:r>
              <a:t>VIVA ANALOGY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578608" y="5193792"/>
            <a:ext cx="7699248" cy="3017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50" b="0">
                <a:solidFill>
                  <a:srgbClr val="23313D"/>
                </a:solidFill>
                <a:latin typeface="Aptos"/>
              </a:defRPr>
            </a:pPr>
            <a:r>
              <a:t>Portal is the entrance, Bastion is the security guard, RDP is the remote-control protocol, and the VM is the computer.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292840" y="6519672"/>
            <a:ext cx="50292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5C6C7A"/>
                </a:solidFill>
                <a:latin typeface="Aptos"/>
              </a:defRPr>
            </a:pPr>
            <a: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816852"/>
            <a:ext cx="12191695" cy="41148"/>
          </a:xfrm>
          <a:prstGeom prst="rect">
            <a:avLst/>
          </a:prstGeom>
          <a:solidFill>
            <a:srgbClr val="E0EB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347472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0F2B46"/>
                </a:solidFill>
                <a:latin typeface="Aptos Display"/>
              </a:defRPr>
            </a:pPr>
            <a:r>
              <a:t>Before vs After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12648" y="914400"/>
            <a:ext cx="10789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50">
                <a:solidFill>
                  <a:srgbClr val="5C6C7A"/>
                </a:solidFill>
                <a:latin typeface="Aptos"/>
              </a:defRPr>
            </a:pPr>
            <a:r>
              <a:t>Security improvement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417320"/>
            <a:ext cx="5166360" cy="4389120"/>
          </a:xfrm>
          <a:prstGeom prst="roundRect">
            <a:avLst/>
          </a:prstGeom>
          <a:solidFill>
            <a:srgbClr val="FCECEC"/>
          </a:solidFill>
          <a:ln w="12700">
            <a:solidFill>
              <a:srgbClr val="D2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850392" y="1600200"/>
            <a:ext cx="475488" cy="475488"/>
          </a:xfrm>
          <a:prstGeom prst="ellipse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50392" y="1664208"/>
            <a:ext cx="475488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Aptos"/>
              </a:defRPr>
            </a:pPr>
            <a:r>
              <a:t>!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435607" y="1581912"/>
            <a:ext cx="4270248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50" b="1">
                <a:solidFill>
                  <a:srgbClr val="0F2B46"/>
                </a:solidFill>
                <a:latin typeface="Aptos"/>
              </a:defRPr>
            </a:pPr>
            <a:r>
              <a:t>BEFORE — PUBLIC RDP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35607" y="2039112"/>
            <a:ext cx="4270248" cy="3639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50" b="0">
                <a:solidFill>
                  <a:srgbClr val="23313D"/>
                </a:solidFill>
                <a:latin typeface="Aptos"/>
              </a:defRPr>
            </a:pPr>
            <a:r>
              <a:t>Direct Internet Exposure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143000" y="2743200"/>
            <a:ext cx="1143000" cy="594360"/>
          </a:xfrm>
          <a:prstGeom prst="roundRect">
            <a:avLst/>
          </a:prstGeom>
          <a:solidFill>
            <a:srgbClr val="FCECEC"/>
          </a:solidFill>
          <a:ln w="19050">
            <a:solidFill>
              <a:srgbClr val="C437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C43737"/>
                </a:solidFill>
                <a:latin typeface="Aptos"/>
              </a:defRPr>
            </a:pPr>
            <a:r>
              <a:t>Internet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2286000" y="3044952"/>
            <a:ext cx="457200" cy="0"/>
          </a:xfrm>
          <a:prstGeom prst="line">
            <a:avLst/>
          </a:prstGeom>
          <a:ln w="31750">
            <a:solidFill>
              <a:srgbClr val="C4373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2743200" y="2743200"/>
            <a:ext cx="1234440" cy="594360"/>
          </a:xfrm>
          <a:prstGeom prst="roundRect">
            <a:avLst/>
          </a:prstGeom>
          <a:solidFill>
            <a:srgbClr val="FCECEC"/>
          </a:solidFill>
          <a:ln w="19050">
            <a:solidFill>
              <a:srgbClr val="C437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C43737"/>
                </a:solidFill>
                <a:latin typeface="Aptos"/>
              </a:defRPr>
            </a:pPr>
            <a:r>
              <a:t>Public IP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3977639" y="3044952"/>
            <a:ext cx="457201" cy="0"/>
          </a:xfrm>
          <a:prstGeom prst="line">
            <a:avLst/>
          </a:prstGeom>
          <a:ln w="31750">
            <a:solidFill>
              <a:srgbClr val="C4373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4434840" y="2743200"/>
            <a:ext cx="1143000" cy="594360"/>
          </a:xfrm>
          <a:prstGeom prst="roundRect">
            <a:avLst/>
          </a:prstGeom>
          <a:solidFill>
            <a:srgbClr val="FCECEC"/>
          </a:solidFill>
          <a:ln w="19050">
            <a:solidFill>
              <a:srgbClr val="C437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C43737"/>
                </a:solidFill>
                <a:latin typeface="Aptos"/>
              </a:defRPr>
            </a:pPr>
            <a:r>
              <a:t>RDP 3389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5577840" y="3044952"/>
            <a:ext cx="228600" cy="0"/>
          </a:xfrm>
          <a:prstGeom prst="line">
            <a:avLst/>
          </a:prstGeom>
          <a:ln w="31750">
            <a:solidFill>
              <a:srgbClr val="C4373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1828800" y="3749039"/>
            <a:ext cx="35661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C43737"/>
                </a:solidFill>
                <a:latin typeface="Aptos"/>
              </a:defRPr>
            </a:pPr>
            <a:r>
              <a:t>Windows VM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355080" y="1417320"/>
            <a:ext cx="5166360" cy="4389120"/>
          </a:xfrm>
          <a:prstGeom prst="roundRect">
            <a:avLst/>
          </a:prstGeom>
          <a:solidFill>
            <a:srgbClr val="E8F7EF"/>
          </a:solidFill>
          <a:ln w="12700">
            <a:solidFill>
              <a:srgbClr val="D2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6519672" y="1600200"/>
            <a:ext cx="475488" cy="475488"/>
          </a:xfrm>
          <a:prstGeom prst="ellipse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519672" y="1664208"/>
            <a:ext cx="475488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Aptos"/>
              </a:defRPr>
            </a:pPr>
            <a:r>
              <a:t>✓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104888" y="1581912"/>
            <a:ext cx="4270248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50" b="1">
                <a:solidFill>
                  <a:srgbClr val="0F2B46"/>
                </a:solidFill>
                <a:latin typeface="Aptos"/>
              </a:defRPr>
            </a:pPr>
            <a:r>
              <a:t>AFTER — AZURE BASTION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104888" y="2039112"/>
            <a:ext cx="4270248" cy="3639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50" b="0">
                <a:solidFill>
                  <a:srgbClr val="23313D"/>
                </a:solidFill>
                <a:latin typeface="Aptos"/>
              </a:defRPr>
            </a:pPr>
            <a:r>
              <a:t>Private VM Access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812280" y="2514600"/>
            <a:ext cx="1280160" cy="594360"/>
          </a:xfrm>
          <a:prstGeom prst="roundRect">
            <a:avLst/>
          </a:prstGeom>
          <a:solidFill>
            <a:srgbClr val="E8F7EF"/>
          </a:solidFill>
          <a:ln w="19050">
            <a:solidFill>
              <a:srgbClr val="2387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238753"/>
                </a:solidFill>
                <a:latin typeface="Aptos"/>
              </a:defRPr>
            </a:pPr>
            <a:r>
              <a:t>Admin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8092440" y="2816352"/>
            <a:ext cx="274320" cy="0"/>
          </a:xfrm>
          <a:prstGeom prst="line">
            <a:avLst/>
          </a:prstGeom>
          <a:ln w="31750">
            <a:solidFill>
              <a:srgbClr val="23875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ounded Rectangle 24"/>
          <p:cNvSpPr/>
          <p:nvPr/>
        </p:nvSpPr>
        <p:spPr>
          <a:xfrm>
            <a:off x="8366760" y="2514600"/>
            <a:ext cx="1325880" cy="594360"/>
          </a:xfrm>
          <a:prstGeom prst="roundRect">
            <a:avLst/>
          </a:prstGeom>
          <a:solidFill>
            <a:srgbClr val="E8F7EF"/>
          </a:solidFill>
          <a:ln w="19050">
            <a:solidFill>
              <a:srgbClr val="2387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238753"/>
                </a:solidFill>
                <a:latin typeface="Aptos"/>
              </a:defRPr>
            </a:pPr>
            <a:r>
              <a:t>Portal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9692640" y="2816352"/>
            <a:ext cx="274320" cy="0"/>
          </a:xfrm>
          <a:prstGeom prst="line">
            <a:avLst/>
          </a:prstGeom>
          <a:ln w="31750">
            <a:solidFill>
              <a:srgbClr val="23875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Rounded Rectangle 26"/>
          <p:cNvSpPr/>
          <p:nvPr/>
        </p:nvSpPr>
        <p:spPr>
          <a:xfrm>
            <a:off x="9966960" y="2514600"/>
            <a:ext cx="1097280" cy="594360"/>
          </a:xfrm>
          <a:prstGeom prst="roundRect">
            <a:avLst/>
          </a:prstGeom>
          <a:solidFill>
            <a:srgbClr val="E8F7EF"/>
          </a:solidFill>
          <a:ln w="19050">
            <a:solidFill>
              <a:srgbClr val="2387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238753"/>
                </a:solidFill>
                <a:latin typeface="Aptos"/>
              </a:defRPr>
            </a:pPr>
            <a:r>
              <a:t>Bastion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10515600" y="3108960"/>
            <a:ext cx="0" cy="365760"/>
          </a:xfrm>
          <a:prstGeom prst="line">
            <a:avLst/>
          </a:prstGeom>
          <a:ln w="31750">
            <a:solidFill>
              <a:srgbClr val="23875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Rounded Rectangle 28"/>
          <p:cNvSpPr/>
          <p:nvPr/>
        </p:nvSpPr>
        <p:spPr>
          <a:xfrm>
            <a:off x="9601200" y="3520440"/>
            <a:ext cx="1828800" cy="594360"/>
          </a:xfrm>
          <a:prstGeom prst="roundRect">
            <a:avLst/>
          </a:prstGeom>
          <a:solidFill>
            <a:srgbClr val="F4F8FC"/>
          </a:solidFill>
          <a:ln w="19050">
            <a:solidFill>
              <a:srgbClr val="0078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0F2B46"/>
                </a:solidFill>
                <a:latin typeface="Aptos"/>
              </a:defRPr>
            </a:pPr>
            <a:r>
              <a:t>Private VM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7498079" y="4572000"/>
            <a:ext cx="3474720" cy="310896"/>
          </a:xfrm>
          <a:prstGeom prst="roundRect">
            <a:avLst/>
          </a:prstGeom>
          <a:solidFill>
            <a:srgbClr val="E8F7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50" b="1">
                <a:solidFill>
                  <a:srgbClr val="238753"/>
                </a:solidFill>
                <a:latin typeface="Aptos"/>
              </a:defRPr>
            </a:pPr>
            <a:r>
              <a:t>Direct public RDP exposure removed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1292840" y="6519672"/>
            <a:ext cx="50292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5C6C7A"/>
                </a:solidFill>
                <a:latin typeface="Aptos"/>
              </a:defRPr>
            </a:pPr>
            <a: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47472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0F2B46"/>
                </a:solidFill>
                <a:latin typeface="Aptos Display"/>
              </a:defRPr>
            </a:pPr>
            <a:r>
              <a:t>Technologies and Azure Services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816852"/>
            <a:ext cx="12191695" cy="41148"/>
          </a:xfrm>
          <a:prstGeom prst="rect">
            <a:avLst/>
          </a:prstGeom>
          <a:solidFill>
            <a:srgbClr val="E0EB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94360" y="1417320"/>
            <a:ext cx="2560320" cy="1554480"/>
          </a:xfrm>
          <a:prstGeom prst="roundRect">
            <a:avLst/>
          </a:prstGeom>
          <a:solidFill>
            <a:srgbClr val="F4F8FC"/>
          </a:solidFill>
          <a:ln w="12700">
            <a:solidFill>
              <a:srgbClr val="D2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758952" y="1600200"/>
            <a:ext cx="475488" cy="475488"/>
          </a:xfrm>
          <a:prstGeom prst="ellipse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58952" y="1664208"/>
            <a:ext cx="475488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Aptos"/>
              </a:defRPr>
            </a:pPr>
            <a:r>
              <a:t>☁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44168" y="1581912"/>
            <a:ext cx="1664207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50" b="1">
                <a:solidFill>
                  <a:srgbClr val="0F2B46"/>
                </a:solidFill>
                <a:latin typeface="Aptos"/>
              </a:defRPr>
            </a:pPr>
            <a:r>
              <a:t>Microsoft Azure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44168" y="2039112"/>
            <a:ext cx="1664207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50" b="0">
                <a:solidFill>
                  <a:srgbClr val="23313D"/>
                </a:solidFill>
                <a:latin typeface="Aptos"/>
              </a:defRPr>
            </a:pPr>
            <a:r>
              <a:t>Cloud platform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474720" y="1417320"/>
            <a:ext cx="2560320" cy="1554480"/>
          </a:xfrm>
          <a:prstGeom prst="roundRect">
            <a:avLst/>
          </a:prstGeom>
          <a:solidFill>
            <a:srgbClr val="F4F8FC"/>
          </a:solidFill>
          <a:ln w="12700">
            <a:solidFill>
              <a:srgbClr val="D2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3639312" y="1600200"/>
            <a:ext cx="475488" cy="475488"/>
          </a:xfrm>
          <a:prstGeom prst="ellipse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639312" y="1664208"/>
            <a:ext cx="475488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Aptos"/>
              </a:defRPr>
            </a:pPr>
            <a:r>
              <a:t>◈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224528" y="1581912"/>
            <a:ext cx="1664207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50" b="1">
                <a:solidFill>
                  <a:srgbClr val="0F2B46"/>
                </a:solidFill>
                <a:latin typeface="Aptos"/>
              </a:defRPr>
            </a:pPr>
            <a:r>
              <a:t>Virtual Network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224528" y="2039112"/>
            <a:ext cx="1664207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50" b="0">
                <a:solidFill>
                  <a:srgbClr val="23313D"/>
                </a:solidFill>
                <a:latin typeface="Aptos"/>
              </a:defRPr>
            </a:pPr>
            <a:r>
              <a:t>Private networking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355080" y="1417320"/>
            <a:ext cx="2560320" cy="1554480"/>
          </a:xfrm>
          <a:prstGeom prst="roundRect">
            <a:avLst/>
          </a:prstGeom>
          <a:solidFill>
            <a:srgbClr val="F4F8FC"/>
          </a:solidFill>
          <a:ln w="12700">
            <a:solidFill>
              <a:srgbClr val="D2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6519672" y="1600200"/>
            <a:ext cx="475488" cy="475488"/>
          </a:xfrm>
          <a:prstGeom prst="ellipse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519672" y="1664208"/>
            <a:ext cx="475488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Aptos"/>
              </a:defRPr>
            </a:pPr>
            <a:r>
              <a:t>▣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104888" y="1581912"/>
            <a:ext cx="1664207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50" b="1">
                <a:solidFill>
                  <a:srgbClr val="0F2B46"/>
                </a:solidFill>
                <a:latin typeface="Aptos"/>
              </a:defRPr>
            </a:pPr>
            <a:r>
              <a:t>Virtual Machine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104888" y="2039112"/>
            <a:ext cx="1664207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50" b="0">
                <a:solidFill>
                  <a:srgbClr val="23313D"/>
                </a:solidFill>
                <a:latin typeface="Aptos"/>
              </a:defRPr>
            </a:pPr>
            <a:r>
              <a:t>Windows virtual computer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235440" y="1417320"/>
            <a:ext cx="2560320" cy="1554480"/>
          </a:xfrm>
          <a:prstGeom prst="roundRect">
            <a:avLst/>
          </a:prstGeom>
          <a:solidFill>
            <a:srgbClr val="E8F7EF"/>
          </a:solidFill>
          <a:ln w="12700">
            <a:solidFill>
              <a:srgbClr val="D2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9400032" y="1600200"/>
            <a:ext cx="475488" cy="475488"/>
          </a:xfrm>
          <a:prstGeom prst="ellipse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400032" y="1664208"/>
            <a:ext cx="475488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Aptos"/>
              </a:defRPr>
            </a:pPr>
            <a:r>
              <a:t>✓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985248" y="1581912"/>
            <a:ext cx="1664207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50" b="1">
                <a:solidFill>
                  <a:srgbClr val="0F2B46"/>
                </a:solidFill>
                <a:latin typeface="Aptos"/>
              </a:defRPr>
            </a:pPr>
            <a:r>
              <a:t>Azure Bastion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985248" y="2039112"/>
            <a:ext cx="1664207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50" b="0">
                <a:solidFill>
                  <a:srgbClr val="23313D"/>
                </a:solidFill>
                <a:latin typeface="Aptos"/>
              </a:defRPr>
            </a:pPr>
            <a:r>
              <a:t>Secure RDP/SSH access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94360" y="3383280"/>
            <a:ext cx="2560320" cy="1554480"/>
          </a:xfrm>
          <a:prstGeom prst="roundRect">
            <a:avLst/>
          </a:prstGeom>
          <a:solidFill>
            <a:srgbClr val="F4F8FC"/>
          </a:solidFill>
          <a:ln w="12700">
            <a:solidFill>
              <a:srgbClr val="D2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758952" y="3566160"/>
            <a:ext cx="475488" cy="475488"/>
          </a:xfrm>
          <a:prstGeom prst="ellipse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58952" y="3630168"/>
            <a:ext cx="475488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Aptos"/>
              </a:defRPr>
            </a:pPr>
            <a:r>
              <a:t>⇄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344168" y="3547872"/>
            <a:ext cx="1664207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50" b="1">
                <a:solidFill>
                  <a:srgbClr val="0F2B46"/>
                </a:solidFill>
                <a:latin typeface="Aptos"/>
              </a:defRPr>
            </a:pPr>
            <a:r>
              <a:t>Network Security Group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344168" y="4005072"/>
            <a:ext cx="1664207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50" b="0">
                <a:solidFill>
                  <a:srgbClr val="23313D"/>
                </a:solidFill>
                <a:latin typeface="Aptos"/>
              </a:defRPr>
            </a:pPr>
            <a:r>
              <a:t>Network traffic control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3474720" y="3383280"/>
            <a:ext cx="2560320" cy="1554480"/>
          </a:xfrm>
          <a:prstGeom prst="roundRect">
            <a:avLst/>
          </a:prstGeom>
          <a:solidFill>
            <a:srgbClr val="F4F8FC"/>
          </a:solidFill>
          <a:ln w="12700">
            <a:solidFill>
              <a:srgbClr val="D2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3639312" y="3566160"/>
            <a:ext cx="475488" cy="475488"/>
          </a:xfrm>
          <a:prstGeom prst="ellipse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639312" y="3630168"/>
            <a:ext cx="475488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Aptos"/>
              </a:defRPr>
            </a:pPr>
            <a:r>
              <a:t>▤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224528" y="3547872"/>
            <a:ext cx="1664207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50" b="1">
                <a:solidFill>
                  <a:srgbClr val="0F2B46"/>
                </a:solidFill>
                <a:latin typeface="Aptos"/>
              </a:defRPr>
            </a:pPr>
            <a:r>
              <a:t>Azure Portal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224528" y="4005072"/>
            <a:ext cx="1664207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50" b="0">
                <a:solidFill>
                  <a:srgbClr val="23313D"/>
                </a:solidFill>
                <a:latin typeface="Aptos"/>
              </a:defRPr>
            </a:pPr>
            <a:r>
              <a:t>Management interface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6355080" y="3383280"/>
            <a:ext cx="2560320" cy="1554480"/>
          </a:xfrm>
          <a:prstGeom prst="roundRect">
            <a:avLst/>
          </a:prstGeom>
          <a:solidFill>
            <a:srgbClr val="F4F8FC"/>
          </a:solidFill>
          <a:ln w="12700">
            <a:solidFill>
              <a:srgbClr val="D2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6519672" y="3566160"/>
            <a:ext cx="475488" cy="475488"/>
          </a:xfrm>
          <a:prstGeom prst="ellipse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519672" y="3630168"/>
            <a:ext cx="475488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104888" y="3547872"/>
            <a:ext cx="1664207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50" b="1">
                <a:solidFill>
                  <a:srgbClr val="0F2B46"/>
                </a:solidFill>
                <a:latin typeface="Aptos"/>
              </a:defRPr>
            </a:pPr>
            <a:r>
              <a:t>RDP / SSH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104888" y="4005072"/>
            <a:ext cx="1664207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50" b="0">
                <a:solidFill>
                  <a:srgbClr val="23313D"/>
                </a:solidFill>
                <a:latin typeface="Aptos"/>
              </a:defRPr>
            </a:pPr>
            <a:r>
              <a:t>Remote management protocols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1292840" y="6519672"/>
            <a:ext cx="50292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5C6C7A"/>
                </a:solidFill>
                <a:latin typeface="Aptos"/>
              </a:defRPr>
            </a:pPr>
            <a: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816852"/>
            <a:ext cx="12191695" cy="41148"/>
          </a:xfrm>
          <a:prstGeom prst="rect">
            <a:avLst/>
          </a:prstGeom>
          <a:solidFill>
            <a:srgbClr val="E0EB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347472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0F2B46"/>
                </a:solidFill>
                <a:latin typeface="Aptos Display"/>
              </a:defRPr>
            </a:pPr>
            <a:r>
              <a:t>VM Security and Operational Controls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325880"/>
            <a:ext cx="5166360" cy="1170432"/>
          </a:xfrm>
          <a:prstGeom prst="roundRect">
            <a:avLst/>
          </a:prstGeom>
          <a:solidFill>
            <a:srgbClr val="E8F7EF"/>
          </a:solidFill>
          <a:ln w="12700">
            <a:solidFill>
              <a:srgbClr val="D2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96112" y="1508760"/>
            <a:ext cx="475488" cy="475488"/>
          </a:xfrm>
          <a:prstGeom prst="ellipse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96112" y="1572768"/>
            <a:ext cx="475488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Aptos"/>
              </a:defRPr>
            </a:pPr>
            <a:r>
              <a:t>✓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81328" y="1490472"/>
            <a:ext cx="4270248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50" b="1">
                <a:solidFill>
                  <a:srgbClr val="0F2B46"/>
                </a:solidFill>
                <a:latin typeface="Aptos"/>
              </a:defRPr>
            </a:pPr>
            <a:r>
              <a:t>Private VM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481328" y="1947672"/>
            <a:ext cx="4270248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50" b="0">
                <a:solidFill>
                  <a:srgbClr val="23313D"/>
                </a:solidFill>
                <a:latin typeface="Aptos"/>
              </a:defRPr>
            </a:pPr>
            <a:r>
              <a:t>Place VMs in a private subnet.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09359" y="1325880"/>
            <a:ext cx="5166360" cy="1170432"/>
          </a:xfrm>
          <a:prstGeom prst="roundRect">
            <a:avLst/>
          </a:prstGeom>
          <a:solidFill>
            <a:srgbClr val="E8F7EF"/>
          </a:solidFill>
          <a:ln w="12700">
            <a:solidFill>
              <a:srgbClr val="D2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6473951" y="1508760"/>
            <a:ext cx="475488" cy="475488"/>
          </a:xfrm>
          <a:prstGeom prst="ellipse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73951" y="1572768"/>
            <a:ext cx="475488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Aptos"/>
              </a:defRPr>
            </a:pPr>
            <a:r>
              <a:t>✓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059168" y="1490472"/>
            <a:ext cx="4270248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50" b="1">
                <a:solidFill>
                  <a:srgbClr val="0F2B46"/>
                </a:solidFill>
                <a:latin typeface="Aptos"/>
              </a:defRPr>
            </a:pPr>
            <a:r>
              <a:t>No Public IP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059168" y="1947672"/>
            <a:ext cx="4270248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50" b="0">
                <a:solidFill>
                  <a:srgbClr val="23313D"/>
                </a:solidFill>
                <a:latin typeface="Aptos"/>
              </a:defRPr>
            </a:pPr>
            <a:r>
              <a:t>Remove public IP assignment from the VM NIC.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31520" y="2834639"/>
            <a:ext cx="5166360" cy="1170432"/>
          </a:xfrm>
          <a:prstGeom prst="roundRect">
            <a:avLst/>
          </a:prstGeom>
          <a:solidFill>
            <a:srgbClr val="F4F8FC"/>
          </a:solidFill>
          <a:ln w="12700">
            <a:solidFill>
              <a:srgbClr val="D2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896112" y="3017520"/>
            <a:ext cx="475488" cy="475488"/>
          </a:xfrm>
          <a:prstGeom prst="ellipse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96112" y="3081527"/>
            <a:ext cx="475488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Aptos"/>
              </a:defRPr>
            </a:pPr>
            <a:r>
              <a:t>✓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81328" y="2999232"/>
            <a:ext cx="4270248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50" b="1">
                <a:solidFill>
                  <a:srgbClr val="0F2B46"/>
                </a:solidFill>
                <a:latin typeface="Aptos"/>
              </a:defRPr>
            </a:pPr>
            <a:r>
              <a:t>Inbound Rules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481328" y="3456432"/>
            <a:ext cx="4270248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50" b="0">
                <a:solidFill>
                  <a:srgbClr val="23313D"/>
                </a:solidFill>
                <a:latin typeface="Aptos"/>
              </a:defRPr>
            </a:pPr>
            <a:r>
              <a:t>Deny Internet inbound traffic on ports 22 and 3389 where appropriate.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309359" y="2834639"/>
            <a:ext cx="5166360" cy="1170432"/>
          </a:xfrm>
          <a:prstGeom prst="roundRect">
            <a:avLst/>
          </a:prstGeom>
          <a:solidFill>
            <a:srgbClr val="E8F7EF"/>
          </a:solidFill>
          <a:ln w="12700">
            <a:solidFill>
              <a:srgbClr val="D2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73951" y="3017520"/>
            <a:ext cx="475488" cy="475488"/>
          </a:xfrm>
          <a:prstGeom prst="ellipse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73951" y="3081527"/>
            <a:ext cx="475488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Aptos"/>
              </a:defRPr>
            </a:pPr>
            <a:r>
              <a:t>✓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059168" y="2999232"/>
            <a:ext cx="4270248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50" b="1">
                <a:solidFill>
                  <a:srgbClr val="0F2B46"/>
                </a:solidFill>
                <a:latin typeface="Aptos"/>
              </a:defRPr>
            </a:pPr>
            <a:r>
              <a:t>Identity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059168" y="3456432"/>
            <a:ext cx="4270248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50" b="0">
                <a:solidFill>
                  <a:srgbClr val="23313D"/>
                </a:solidFill>
                <a:latin typeface="Aptos"/>
              </a:defRPr>
            </a:pPr>
            <a:r>
              <a:t>Use Azure Portal authentication and MFA.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31520" y="4343400"/>
            <a:ext cx="5166360" cy="1170432"/>
          </a:xfrm>
          <a:prstGeom prst="roundRect">
            <a:avLst/>
          </a:prstGeom>
          <a:solidFill>
            <a:srgbClr val="E8F7EF"/>
          </a:solidFill>
          <a:ln w="12700">
            <a:solidFill>
              <a:srgbClr val="D2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896112" y="4526280"/>
            <a:ext cx="475488" cy="475488"/>
          </a:xfrm>
          <a:prstGeom prst="ellipse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96112" y="4590288"/>
            <a:ext cx="475488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Aptos"/>
              </a:defRPr>
            </a:pPr>
            <a:r>
              <a:t>✓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481328" y="4507992"/>
            <a:ext cx="4270248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50" b="1">
                <a:solidFill>
                  <a:srgbClr val="0F2B46"/>
                </a:solidFill>
                <a:latin typeface="Aptos"/>
              </a:defRPr>
            </a:pPr>
            <a:r>
              <a:t>RBAC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481328" y="4965192"/>
            <a:ext cx="4270248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50" b="0">
                <a:solidFill>
                  <a:srgbClr val="23313D"/>
                </a:solidFill>
                <a:latin typeface="Aptos"/>
              </a:defRPr>
            </a:pPr>
            <a:r>
              <a:t>Use role-based access control for Bastion usage.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309359" y="4343400"/>
            <a:ext cx="5166360" cy="1170432"/>
          </a:xfrm>
          <a:prstGeom prst="roundRect">
            <a:avLst/>
          </a:prstGeom>
          <a:solidFill>
            <a:srgbClr val="F4F8FC"/>
          </a:solidFill>
          <a:ln w="12700">
            <a:solidFill>
              <a:srgbClr val="D2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6473951" y="4526280"/>
            <a:ext cx="475488" cy="475488"/>
          </a:xfrm>
          <a:prstGeom prst="ellipse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473951" y="4590288"/>
            <a:ext cx="475488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Aptos"/>
              </a:defRPr>
            </a:pPr>
            <a:r>
              <a:t>✓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059168" y="4507992"/>
            <a:ext cx="4270248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50" b="1">
                <a:solidFill>
                  <a:srgbClr val="0F2B46"/>
                </a:solidFill>
                <a:latin typeface="Aptos"/>
              </a:defRPr>
            </a:pPr>
            <a:r>
              <a:t>Monitoring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059168" y="4965192"/>
            <a:ext cx="4270248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50" b="0">
                <a:solidFill>
                  <a:srgbClr val="23313D"/>
                </a:solidFill>
                <a:latin typeface="Aptos"/>
              </a:defRPr>
            </a:pPr>
            <a:r>
              <a:t>Use Azure Monitor / NSG flow logs / Log Analytics for monitoring and auditing.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22960" y="589788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50" b="0">
                <a:solidFill>
                  <a:srgbClr val="5C6C7A"/>
                </a:solidFill>
                <a:latin typeface="Aptos"/>
              </a:defRPr>
            </a:pPr>
            <a:r>
              <a:t>Controls should be validated against the actual deployment and organizational security requirements.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1292840" y="6519672"/>
            <a:ext cx="50292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5C6C7A"/>
                </a:solidFill>
                <a:latin typeface="Aptos"/>
              </a:defRPr>
            </a:pPr>
            <a: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816852"/>
            <a:ext cx="12191695" cy="41148"/>
          </a:xfrm>
          <a:prstGeom prst="rect">
            <a:avLst/>
          </a:prstGeom>
          <a:solidFill>
            <a:srgbClr val="E0EB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347472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0F2B46"/>
                </a:solidFill>
                <a:latin typeface="Aptos Display"/>
              </a:defRPr>
            </a:pPr>
            <a:r>
              <a:t>Deployment Workflow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1508760"/>
            <a:ext cx="2423160" cy="960120"/>
          </a:xfrm>
          <a:prstGeom prst="roundRect">
            <a:avLst/>
          </a:prstGeom>
          <a:solidFill>
            <a:srgbClr val="E7F3FC"/>
          </a:solidFill>
          <a:ln w="19050">
            <a:solidFill>
              <a:srgbClr val="0078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50" b="1">
                <a:solidFill>
                  <a:srgbClr val="0F2B46"/>
                </a:solidFill>
                <a:latin typeface="Aptos"/>
              </a:defRPr>
            </a:pPr>
            <a:r>
              <a:t>1. Create Resource Group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2926080" y="1984248"/>
            <a:ext cx="429768" cy="0"/>
          </a:xfrm>
          <a:prstGeom prst="line">
            <a:avLst/>
          </a:prstGeom>
          <a:ln w="31750">
            <a:solidFill>
              <a:srgbClr val="0078D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1709928" y="2468880"/>
            <a:ext cx="0" cy="1005840"/>
          </a:xfrm>
          <a:prstGeom prst="line">
            <a:avLst/>
          </a:prstGeom>
          <a:ln w="31750">
            <a:solidFill>
              <a:srgbClr val="0078D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ounded Rectangle 7"/>
          <p:cNvSpPr/>
          <p:nvPr/>
        </p:nvSpPr>
        <p:spPr>
          <a:xfrm>
            <a:off x="3383280" y="1508760"/>
            <a:ext cx="2423160" cy="960120"/>
          </a:xfrm>
          <a:prstGeom prst="roundRect">
            <a:avLst/>
          </a:prstGeom>
          <a:solidFill>
            <a:srgbClr val="E7F3FC"/>
          </a:solidFill>
          <a:ln w="19050">
            <a:solidFill>
              <a:srgbClr val="0078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50" b="1">
                <a:solidFill>
                  <a:srgbClr val="0F2B46"/>
                </a:solidFill>
                <a:latin typeface="Aptos"/>
              </a:defRPr>
            </a:pPr>
            <a:r>
              <a:t>2. Create VNet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5806440" y="1984248"/>
            <a:ext cx="429768" cy="0"/>
          </a:xfrm>
          <a:prstGeom prst="line">
            <a:avLst/>
          </a:prstGeom>
          <a:ln w="31750">
            <a:solidFill>
              <a:srgbClr val="0078D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4590288" y="2468880"/>
            <a:ext cx="0" cy="1005840"/>
          </a:xfrm>
          <a:prstGeom prst="line">
            <a:avLst/>
          </a:prstGeom>
          <a:ln w="31750">
            <a:solidFill>
              <a:srgbClr val="0078D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6263640" y="1508760"/>
            <a:ext cx="2423160" cy="960120"/>
          </a:xfrm>
          <a:prstGeom prst="roundRect">
            <a:avLst/>
          </a:prstGeom>
          <a:solidFill>
            <a:srgbClr val="E7F3FC"/>
          </a:solidFill>
          <a:ln w="19050">
            <a:solidFill>
              <a:srgbClr val="0078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50" b="1">
                <a:solidFill>
                  <a:srgbClr val="0F2B46"/>
                </a:solidFill>
                <a:latin typeface="Aptos"/>
              </a:defRPr>
            </a:pPr>
            <a:r>
              <a:t>3. Create VM Subnet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8686800" y="1984248"/>
            <a:ext cx="429767" cy="0"/>
          </a:xfrm>
          <a:prstGeom prst="line">
            <a:avLst/>
          </a:prstGeom>
          <a:ln w="31750">
            <a:solidFill>
              <a:srgbClr val="0078D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7470648" y="2468880"/>
            <a:ext cx="0" cy="1005840"/>
          </a:xfrm>
          <a:prstGeom prst="line">
            <a:avLst/>
          </a:prstGeom>
          <a:ln w="31750">
            <a:solidFill>
              <a:srgbClr val="0078D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9144000" y="1508760"/>
            <a:ext cx="2423160" cy="960120"/>
          </a:xfrm>
          <a:prstGeom prst="roundRect">
            <a:avLst/>
          </a:prstGeom>
          <a:solidFill>
            <a:srgbClr val="E7F3FC"/>
          </a:solidFill>
          <a:ln w="19050">
            <a:solidFill>
              <a:srgbClr val="0078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50" b="1">
                <a:solidFill>
                  <a:srgbClr val="0F2B46"/>
                </a:solidFill>
                <a:latin typeface="Aptos"/>
              </a:defRPr>
            </a:pPr>
            <a:r>
              <a:t>4. Deploy Windows VM</a:t>
            </a:r>
            <a:br/>
            <a:r>
              <a:t>with Private IP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10351008" y="2468880"/>
            <a:ext cx="0" cy="1005840"/>
          </a:xfrm>
          <a:prstGeom prst="line">
            <a:avLst/>
          </a:prstGeom>
          <a:ln w="31750">
            <a:solidFill>
              <a:srgbClr val="0078D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502920" y="3520440"/>
            <a:ext cx="2423160" cy="960120"/>
          </a:xfrm>
          <a:prstGeom prst="roundRect">
            <a:avLst/>
          </a:prstGeom>
          <a:solidFill>
            <a:srgbClr val="E8F7EF"/>
          </a:solidFill>
          <a:ln w="19050">
            <a:solidFill>
              <a:srgbClr val="2387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50" b="1">
                <a:solidFill>
                  <a:srgbClr val="0F2B46"/>
                </a:solidFill>
                <a:latin typeface="Aptos"/>
              </a:defRPr>
            </a:pPr>
            <a:r>
              <a:t>5. Create AzureBastionSubnet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2926080" y="3995928"/>
            <a:ext cx="429768" cy="0"/>
          </a:xfrm>
          <a:prstGeom prst="line">
            <a:avLst/>
          </a:prstGeom>
          <a:ln w="31750">
            <a:solidFill>
              <a:srgbClr val="23875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ounded Rectangle 17"/>
          <p:cNvSpPr/>
          <p:nvPr/>
        </p:nvSpPr>
        <p:spPr>
          <a:xfrm>
            <a:off x="3383280" y="3520440"/>
            <a:ext cx="2423160" cy="960120"/>
          </a:xfrm>
          <a:prstGeom prst="roundRect">
            <a:avLst/>
          </a:prstGeom>
          <a:solidFill>
            <a:srgbClr val="E8F7EF"/>
          </a:solidFill>
          <a:ln w="19050">
            <a:solidFill>
              <a:srgbClr val="2387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50" b="1">
                <a:solidFill>
                  <a:srgbClr val="0F2B46"/>
                </a:solidFill>
                <a:latin typeface="Aptos"/>
              </a:defRPr>
            </a:pPr>
            <a:r>
              <a:t>6. Deploy Azure Bastion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5806440" y="3995928"/>
            <a:ext cx="429768" cy="0"/>
          </a:xfrm>
          <a:prstGeom prst="line">
            <a:avLst/>
          </a:prstGeom>
          <a:ln w="31750">
            <a:solidFill>
              <a:srgbClr val="23875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6263640" y="3520440"/>
            <a:ext cx="2423160" cy="960120"/>
          </a:xfrm>
          <a:prstGeom prst="roundRect">
            <a:avLst/>
          </a:prstGeom>
          <a:solidFill>
            <a:srgbClr val="E8F7EF"/>
          </a:solidFill>
          <a:ln w="19050">
            <a:solidFill>
              <a:srgbClr val="2387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50" b="1">
                <a:solidFill>
                  <a:srgbClr val="0F2B46"/>
                </a:solidFill>
                <a:latin typeface="Aptos"/>
              </a:defRPr>
            </a:pPr>
            <a:r>
              <a:t>7. Configure NSG Rules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8686800" y="3995928"/>
            <a:ext cx="429767" cy="0"/>
          </a:xfrm>
          <a:prstGeom prst="line">
            <a:avLst/>
          </a:prstGeom>
          <a:ln w="31750">
            <a:solidFill>
              <a:srgbClr val="23875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ounded Rectangle 21"/>
          <p:cNvSpPr/>
          <p:nvPr/>
        </p:nvSpPr>
        <p:spPr>
          <a:xfrm>
            <a:off x="9144000" y="3520440"/>
            <a:ext cx="2423160" cy="960120"/>
          </a:xfrm>
          <a:prstGeom prst="roundRect">
            <a:avLst/>
          </a:prstGeom>
          <a:solidFill>
            <a:srgbClr val="E8F7EF"/>
          </a:solidFill>
          <a:ln w="19050">
            <a:solidFill>
              <a:srgbClr val="2387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50" b="1">
                <a:solidFill>
                  <a:srgbClr val="0F2B46"/>
                </a:solidFill>
                <a:latin typeface="Aptos"/>
              </a:defRPr>
            </a:pPr>
            <a:r>
              <a:t>8. Test Bastion Connection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023360" y="5669280"/>
            <a:ext cx="4114800" cy="310896"/>
          </a:xfrm>
          <a:prstGeom prst="roundRect">
            <a:avLst/>
          </a:prstGeom>
          <a:solidFill>
            <a:srgbClr val="E7F3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50" b="1">
                <a:solidFill>
                  <a:srgbClr val="0078D4"/>
                </a:solidFill>
                <a:latin typeface="Aptos"/>
              </a:defRPr>
            </a:pPr>
            <a:r>
              <a:t>Deploy → Configure → Connect → Verify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292840" y="6519672"/>
            <a:ext cx="50292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5C6C7A"/>
                </a:solidFill>
                <a:latin typeface="Aptos"/>
              </a:defRPr>
            </a:pPr>
            <a:r>
              <a:t>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816852"/>
            <a:ext cx="12191695" cy="41148"/>
          </a:xfrm>
          <a:prstGeom prst="rect">
            <a:avLst/>
          </a:prstGeom>
          <a:solidFill>
            <a:srgbClr val="E0EB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347472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0F2B46"/>
                </a:solidFill>
                <a:latin typeface="Aptos Display"/>
              </a:defRPr>
            </a:pPr>
            <a:r>
              <a:t>Testing and Verification</a:t>
            </a:r>
          </a:p>
        </p:txBody>
      </p:sp>
      <p:sp>
        <p:nvSpPr>
          <p:cNvPr id="5" name="Oval 4"/>
          <p:cNvSpPr/>
          <p:nvPr/>
        </p:nvSpPr>
        <p:spPr>
          <a:xfrm>
            <a:off x="777240" y="1234440"/>
            <a:ext cx="347472" cy="347472"/>
          </a:xfrm>
          <a:prstGeom prst="ellipse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1298448"/>
            <a:ext cx="347472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Aptos"/>
              </a:defRPr>
            </a:pPr>
            <a: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25880" y="1216152"/>
            <a:ext cx="56692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50" b="0">
                <a:solidFill>
                  <a:srgbClr val="23313D"/>
                </a:solidFill>
                <a:latin typeface="Aptos"/>
              </a:defRPr>
            </a:pPr>
            <a:r>
              <a:t>Open the Azure Portal.</a:t>
            </a:r>
          </a:p>
        </p:txBody>
      </p:sp>
      <p:sp>
        <p:nvSpPr>
          <p:cNvPr id="8" name="Oval 7"/>
          <p:cNvSpPr/>
          <p:nvPr/>
        </p:nvSpPr>
        <p:spPr>
          <a:xfrm>
            <a:off x="777240" y="1856232"/>
            <a:ext cx="347472" cy="347472"/>
          </a:xfrm>
          <a:prstGeom prst="ellipse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1920240"/>
            <a:ext cx="347472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Aptos"/>
              </a:defRPr>
            </a:pPr>
            <a: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25880" y="1837944"/>
            <a:ext cx="56692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50" b="0">
                <a:solidFill>
                  <a:srgbClr val="23313D"/>
                </a:solidFill>
                <a:latin typeface="Aptos"/>
              </a:defRPr>
            </a:pPr>
            <a:r>
              <a:t>Open the Windows VM.</a:t>
            </a:r>
          </a:p>
        </p:txBody>
      </p:sp>
      <p:sp>
        <p:nvSpPr>
          <p:cNvPr id="11" name="Oval 10"/>
          <p:cNvSpPr/>
          <p:nvPr/>
        </p:nvSpPr>
        <p:spPr>
          <a:xfrm>
            <a:off x="777240" y="2478024"/>
            <a:ext cx="347472" cy="347472"/>
          </a:xfrm>
          <a:prstGeom prst="ellipse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77240" y="2542032"/>
            <a:ext cx="347472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Aptos"/>
              </a:defRPr>
            </a:pPr>
            <a:r>
              <a:t>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25880" y="2459736"/>
            <a:ext cx="56692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50" b="0">
                <a:solidFill>
                  <a:srgbClr val="23313D"/>
                </a:solidFill>
                <a:latin typeface="Aptos"/>
              </a:defRPr>
            </a:pPr>
            <a:r>
              <a:t>Select Connect → Bastion.</a:t>
            </a:r>
          </a:p>
        </p:txBody>
      </p:sp>
      <p:sp>
        <p:nvSpPr>
          <p:cNvPr id="14" name="Oval 13"/>
          <p:cNvSpPr/>
          <p:nvPr/>
        </p:nvSpPr>
        <p:spPr>
          <a:xfrm>
            <a:off x="777240" y="3099816"/>
            <a:ext cx="347472" cy="347472"/>
          </a:xfrm>
          <a:prstGeom prst="ellipse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77240" y="3163824"/>
            <a:ext cx="347472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Aptos"/>
              </a:defRPr>
            </a:pPr>
            <a:r>
              <a:t>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25880" y="3081528"/>
            <a:ext cx="56692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50" b="0">
                <a:solidFill>
                  <a:srgbClr val="23313D"/>
                </a:solidFill>
                <a:latin typeface="Aptos"/>
              </a:defRPr>
            </a:pPr>
            <a:r>
              <a:t>Authenticate using the Administrator account.</a:t>
            </a:r>
          </a:p>
        </p:txBody>
      </p:sp>
      <p:sp>
        <p:nvSpPr>
          <p:cNvPr id="17" name="Oval 16"/>
          <p:cNvSpPr/>
          <p:nvPr/>
        </p:nvSpPr>
        <p:spPr>
          <a:xfrm>
            <a:off x="777240" y="3721608"/>
            <a:ext cx="347472" cy="347472"/>
          </a:xfrm>
          <a:prstGeom prst="ellipse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77240" y="3785616"/>
            <a:ext cx="347472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Aptos"/>
              </a:defRPr>
            </a:pPr>
            <a:r>
              <a:t>5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25880" y="3703320"/>
            <a:ext cx="56692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50" b="0">
                <a:solidFill>
                  <a:srgbClr val="23313D"/>
                </a:solidFill>
                <a:latin typeface="Aptos"/>
              </a:defRPr>
            </a:pPr>
            <a:r>
              <a:t>Confirm the Windows desktop/session opens.</a:t>
            </a:r>
          </a:p>
        </p:txBody>
      </p:sp>
      <p:sp>
        <p:nvSpPr>
          <p:cNvPr id="20" name="Oval 19"/>
          <p:cNvSpPr/>
          <p:nvPr/>
        </p:nvSpPr>
        <p:spPr>
          <a:xfrm>
            <a:off x="777240" y="4343400"/>
            <a:ext cx="347472" cy="347472"/>
          </a:xfrm>
          <a:prstGeom prst="ellipse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77240" y="4407408"/>
            <a:ext cx="347472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Aptos"/>
              </a:defRPr>
            </a:pPr>
            <a:r>
              <a:t>6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325880" y="4325112"/>
            <a:ext cx="56692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50" b="0">
                <a:solidFill>
                  <a:srgbClr val="23313D"/>
                </a:solidFill>
                <a:latin typeface="Aptos"/>
              </a:defRPr>
            </a:pPr>
            <a:r>
              <a:t>Verify direct public RDP access is not required.</a:t>
            </a:r>
          </a:p>
        </p:txBody>
      </p:sp>
      <p:sp>
        <p:nvSpPr>
          <p:cNvPr id="23" name="Oval 22"/>
          <p:cNvSpPr/>
          <p:nvPr/>
        </p:nvSpPr>
        <p:spPr>
          <a:xfrm>
            <a:off x="777240" y="4965192"/>
            <a:ext cx="347472" cy="347472"/>
          </a:xfrm>
          <a:prstGeom prst="ellipse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77240" y="5029200"/>
            <a:ext cx="347472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Aptos"/>
              </a:defRPr>
            </a:pPr>
            <a:r>
              <a:t>7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325880" y="4946904"/>
            <a:ext cx="56692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50" b="0">
                <a:solidFill>
                  <a:srgbClr val="23313D"/>
                </a:solidFill>
                <a:latin typeface="Aptos"/>
              </a:defRPr>
            </a:pPr>
            <a:r>
              <a:t>Verify the VM uses a private IP.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360920" y="1371600"/>
            <a:ext cx="4069080" cy="4160520"/>
          </a:xfrm>
          <a:prstGeom prst="roundRect">
            <a:avLst/>
          </a:prstGeom>
          <a:solidFill>
            <a:srgbClr val="F4F8FC"/>
          </a:solidFill>
          <a:ln>
            <a:solidFill>
              <a:srgbClr val="CDD9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635240" y="1627632"/>
            <a:ext cx="3474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50" b="1">
                <a:solidFill>
                  <a:srgbClr val="5C6C7A"/>
                </a:solidFill>
                <a:latin typeface="Aptos"/>
              </a:defRPr>
            </a:pPr>
            <a:r>
              <a:t>Azure Portal  ›  Virtual Machine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818120" y="2240280"/>
            <a:ext cx="3108960" cy="685800"/>
          </a:xfrm>
          <a:prstGeom prst="roundRect">
            <a:avLst/>
          </a:prstGeom>
          <a:solidFill>
            <a:srgbClr val="E8F7EF"/>
          </a:solidFill>
          <a:ln w="19050">
            <a:solidFill>
              <a:srgbClr val="2387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0F2B46"/>
                </a:solidFill>
                <a:latin typeface="Aptos"/>
              </a:defRPr>
            </a:pPr>
            <a:r>
              <a:t>Connect  →  Bastion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9372600" y="2926080"/>
            <a:ext cx="0" cy="384048"/>
          </a:xfrm>
          <a:prstGeom prst="line">
            <a:avLst/>
          </a:prstGeom>
          <a:ln w="31750">
            <a:solidFill>
              <a:srgbClr val="23875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Rounded Rectangle 29"/>
          <p:cNvSpPr/>
          <p:nvPr/>
        </p:nvSpPr>
        <p:spPr>
          <a:xfrm>
            <a:off x="7818120" y="3383280"/>
            <a:ext cx="3108960" cy="685800"/>
          </a:xfrm>
          <a:prstGeom prst="roundRect">
            <a:avLst/>
          </a:prstGeom>
          <a:solidFill>
            <a:srgbClr val="E7F3FC"/>
          </a:solidFill>
          <a:ln w="19050">
            <a:solidFill>
              <a:srgbClr val="0078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0F2B46"/>
                </a:solidFill>
                <a:latin typeface="Aptos"/>
              </a:defRPr>
            </a:pPr>
            <a:r>
              <a:t>Authenticate</a:t>
            </a:r>
          </a:p>
        </p:txBody>
      </p:sp>
      <p:cxnSp>
        <p:nvCxnSpPr>
          <p:cNvPr id="31" name="Connector 30"/>
          <p:cNvCxnSpPr/>
          <p:nvPr/>
        </p:nvCxnSpPr>
        <p:spPr>
          <a:xfrm>
            <a:off x="9372600" y="4069080"/>
            <a:ext cx="0" cy="365760"/>
          </a:xfrm>
          <a:prstGeom prst="line">
            <a:avLst/>
          </a:prstGeom>
          <a:ln w="31750">
            <a:solidFill>
              <a:srgbClr val="0078D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Rounded Rectangle 31"/>
          <p:cNvSpPr/>
          <p:nvPr/>
        </p:nvSpPr>
        <p:spPr>
          <a:xfrm>
            <a:off x="7818120" y="4498848"/>
            <a:ext cx="3108960" cy="6858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078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0F2B46"/>
                </a:solidFill>
                <a:latin typeface="Aptos"/>
              </a:defRPr>
            </a:pPr>
            <a:r>
              <a:t>Windows Session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7909560" y="5257800"/>
            <a:ext cx="2926080" cy="310896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50" b="1">
                <a:solidFill>
                  <a:srgbClr val="5C6C7A"/>
                </a:solidFill>
                <a:latin typeface="Aptos"/>
              </a:defRPr>
            </a:pPr>
            <a:r>
              <a:t>No invented screenshot — schematic only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1292840" y="6519672"/>
            <a:ext cx="50292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5C6C7A"/>
                </a:solidFill>
                <a:latin typeface="Aptos"/>
              </a:defRPr>
            </a:pPr>
            <a:r>
              <a:t>16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816852"/>
            <a:ext cx="12191695" cy="41148"/>
          </a:xfrm>
          <a:prstGeom prst="rect">
            <a:avLst/>
          </a:prstGeom>
          <a:solidFill>
            <a:srgbClr val="E0EB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594360"/>
            <a:ext cx="10789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0F2B46"/>
                </a:solidFill>
                <a:latin typeface="Aptos"/>
              </a:defRPr>
            </a:pPr>
            <a:r>
              <a:t>Conclusion</a:t>
            </a:r>
          </a:p>
        </p:txBody>
      </p:sp>
      <p:sp>
        <p:nvSpPr>
          <p:cNvPr id="5" name="Pentagon 4"/>
          <p:cNvSpPr/>
          <p:nvPr/>
        </p:nvSpPr>
        <p:spPr>
          <a:xfrm rot="10800000">
            <a:off x="5623560" y="1371600"/>
            <a:ext cx="914400" cy="987552"/>
          </a:xfrm>
          <a:prstGeom prst="homePlate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23560" y="1636776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FFFFFF"/>
                </a:solidFill>
                <a:latin typeface="Aptos"/>
              </a:defRPr>
            </a:pPr>
            <a:r>
              <a:t>✓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28800" y="2514600"/>
            <a:ext cx="850392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600">
                <a:solidFill>
                  <a:srgbClr val="23313D"/>
                </a:solidFill>
                <a:latin typeface="Aptos"/>
              </a:defRPr>
            </a:pPr>
            <a:r>
              <a:t>• Azure Bastion provides secure remote access to Azure VMs.</a:t>
            </a:r>
          </a:p>
          <a:p>
            <a:pPr>
              <a:spcAft>
                <a:spcPts val="1200"/>
              </a:spcAft>
              <a:defRPr sz="1600">
                <a:solidFill>
                  <a:srgbClr val="23313D"/>
                </a:solidFill>
                <a:latin typeface="Aptos"/>
              </a:defRPr>
            </a:pPr>
            <a:r>
              <a:t>• The Windows VM can remain inside a private network.</a:t>
            </a:r>
          </a:p>
          <a:p>
            <a:pPr>
              <a:spcAft>
                <a:spcPts val="1200"/>
              </a:spcAft>
              <a:defRPr sz="1600">
                <a:solidFill>
                  <a:srgbClr val="23313D"/>
                </a:solidFill>
                <a:latin typeface="Aptos"/>
              </a:defRPr>
            </a:pPr>
            <a:r>
              <a:t>• Direct public RDP exposure is removed for the Bastion access path.</a:t>
            </a:r>
          </a:p>
          <a:p>
            <a:pPr>
              <a:spcAft>
                <a:spcPts val="1200"/>
              </a:spcAft>
              <a:defRPr sz="1600">
                <a:solidFill>
                  <a:srgbClr val="23313D"/>
                </a:solidFill>
                <a:latin typeface="Aptos"/>
              </a:defRPr>
            </a:pPr>
            <a:r>
              <a:t>• NSG rules provide additional network traffic control.</a:t>
            </a:r>
          </a:p>
          <a:p>
            <a:pPr>
              <a:spcAft>
                <a:spcPts val="1200"/>
              </a:spcAft>
              <a:defRPr sz="1600">
                <a:solidFill>
                  <a:srgbClr val="23313D"/>
                </a:solidFill>
                <a:latin typeface="Aptos"/>
              </a:defRPr>
            </a:pPr>
            <a:r>
              <a:t>• The architecture reduces the VM's direct exposure to the public Internet.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417320" y="5349240"/>
            <a:ext cx="9372600" cy="777240"/>
          </a:xfrm>
          <a:prstGeom prst="roundRect">
            <a:avLst/>
          </a:prstGeom>
          <a:solidFill>
            <a:srgbClr val="0F2B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FFFFF"/>
                </a:solidFill>
                <a:latin typeface="Aptos Display"/>
              </a:defRPr>
            </a:pPr>
            <a:r>
              <a:t>Private VM  +  Azure Bastion  +  NSG  =  Secure Remote Administration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389120" y="6263640"/>
            <a:ext cx="34747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50" b="0">
                <a:solidFill>
                  <a:srgbClr val="5C6C7A"/>
                </a:solidFill>
                <a:latin typeface="Aptos"/>
              </a:defRPr>
            </a:pPr>
            <a:r>
              <a:t>Thank you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292840" y="6519672"/>
            <a:ext cx="50292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5C6C7A"/>
                </a:solidFill>
                <a:latin typeface="Aptos"/>
              </a:defRPr>
            </a:pPr>
            <a:r>
              <a:t>17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